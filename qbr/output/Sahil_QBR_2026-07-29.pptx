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QUARTERLY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7863840" cy="12070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500" b="1">
                <a:solidFill>
                  <a:srgbClr val="F7FAFC"/>
                </a:solidFill>
                <a:latin typeface="Aptos"/>
              </a:defRPr>
            </a:pPr>
            <a:r>
              <a:t>Own the next gate.</a:t>
            </a:r>
            <a:br/>
            <a:r>
              <a:t>Build the 2027 engine.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42032"/>
            <a:ext cx="7223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0">
                <a:solidFill>
                  <a:srgbClr val="DDE6F3"/>
                </a:solidFill>
                <a:latin typeface="Aptos"/>
              </a:defRPr>
            </a:pPr>
            <a:r>
              <a:t>FAE plan review  •  Altera + Arrow + Macnica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69494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A8B2C7"/>
                </a:solidFill>
                <a:latin typeface="Aptos"/>
              </a:defRPr>
            </a:pPr>
            <a:r>
              <a:t>Wednesday, 29 July 2026  |  12:00–13:00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685800"/>
            <a:ext cx="2971800" cy="507492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96528" y="1078992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PIPELINE SNAPSHOT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6528" y="1508760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00B8A9"/>
                </a:solidFill>
                <a:latin typeface="Aptos"/>
              </a:defRPr>
            </a:pPr>
            <a:r>
              <a:t>10.45M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1993392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qualified open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2487168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3A86FF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2971800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qualified open opportunities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6528" y="3456432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FF9F1C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96528" y="3941063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direct-account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4590288"/>
            <a:ext cx="228600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5A5F"/>
                </a:solidFill>
                <a:latin typeface="Aptos"/>
              </a:defRPr>
            </a:pPr>
            <a:r>
              <a:t>Target + actual</a:t>
            </a:r>
            <a:br/>
            <a:r>
              <a:t>inputs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99632"/>
            <a:ext cx="7589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A8B2C7"/>
                </a:solidFill>
                <a:latin typeface="Aptos"/>
              </a:defRPr>
            </a:pPr>
            <a:r>
              <a:t>Prepared from master + 2026/2027 open-pipeline exports  •  Values shown without assumed currency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Executive snapshot: 10.45M qualified open; 3.94M outside exports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QUALIFIED OPEN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00B8A9"/>
                </a:solidFill>
                <a:latin typeface="Aptos"/>
              </a:defRPr>
            </a:pPr>
            <a:r>
              <a:t>10.45M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18 opportunities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WEIGHTED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A86FF"/>
                </a:solidFill>
                <a:latin typeface="Aptos"/>
              </a:defRPr>
            </a:pPr>
            <a:r>
              <a:t>3.00M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probability × peak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2026 OPEN EXPORT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FF9F1C"/>
                </a:solidFill>
                <a:latin typeface="Aptos"/>
              </a:defRPr>
            </a:pPr>
            <a:r>
              <a:t>4.25M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2 opportunities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2027 OPEN EXPORT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DDC97"/>
                </a:solidFill>
                <a:latin typeface="Aptos"/>
              </a:defRPr>
            </a:pPr>
            <a:r>
              <a:t>6.19M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16 opportunities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2542032"/>
            <a:ext cx="6903720" cy="352044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788920"/>
            <a:ext cx="6446520" cy="2971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WHAT THE DATA SAYS</a:t>
            </a:r>
          </a:p>
          <a:p>
            <a:pPr>
              <a:spcAft>
                <a:spcPts val="500"/>
              </a:spcAft>
              <a:defRPr sz="1400" b="0">
                <a:solidFill>
                  <a:srgbClr val="F7FAFC"/>
                </a:solidFill>
                <a:latin typeface="Aptos"/>
              </a:defRPr>
            </a:pPr>
            <a:r>
              <a:t>• 3.94M across 3 plays is outside both exports: 3.60M Identify + 338K Define.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Outdu AI is 4.12M (39% of qualified open value) but remains Define.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Q4 2026 DWIN-dated pipeline is 6.71M, yet weighted value is only 1.62M.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Bucket membership comes from the uploaded files; it is not derived from Design Win Date.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2542032"/>
            <a:ext cx="3977639" cy="352044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2127" y="2788920"/>
            <a:ext cx="3456432" cy="2926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DECISIONS FOR THE REVIEW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1  Confirm 2026 target and YTD actual.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2  Agree stage-exit evidence for 8 Q4 DWINs.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3  Assign DFAE support to top conversion plays.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4  Select a distributor plan or confirm direct-only coverage.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2026 target vs current achievement: source inputs are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Do not use open opportunity value as booked achievement or target attainment.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2026 ANNUAL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Sales target is not in the source file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33672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YTD ACTUAL ACHIEVEMENT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Bookings/revenue/DWIN actuals are not in the source file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7304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GAP TO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9F1C"/>
                </a:solidFill>
                <a:latin typeface="Aptos"/>
              </a:defRPr>
            </a:pPr>
            <a:r>
              <a:t>[ CALCULATE AFTER INPUT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Target − YTD actual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493008"/>
            <a:ext cx="11109960" cy="2240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49039"/>
            <a:ext cx="10652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00B8A9"/>
                </a:solidFill>
                <a:latin typeface="Aptos"/>
              </a:defRPr>
            </a:pPr>
            <a:r>
              <a:t>AVAILABLE LEADING INDICATORS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Qualified open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18 / 10.45M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Weighted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3.00M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2026 export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2 / 4.25M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2027 export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16 / 6.19M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230368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F9F1C"/>
                </a:solidFill>
                <a:latin typeface="Aptos"/>
              </a:defRPr>
            </a:pPr>
            <a:r>
              <a:t>Bring to review: annual target, YTD revenue/bookings, achieved DWIN count/value, and definition of “achievement.”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02 / FUNNEL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Opportunity funnel: separate qualified open from 0% identification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9903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Identify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139903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8840" y="132588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1325880"/>
            <a:ext cx="2223141" cy="438912"/>
          </a:xfrm>
          <a:prstGeom prst="rect">
            <a:avLst/>
          </a:prstGeom>
          <a:solidFill>
            <a:srgbClr val="FF5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2" y="135331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3.60M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08592" y="135331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35915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35915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15 opps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40" y="228600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48840" y="2286000"/>
            <a:ext cx="5806440" cy="43891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9872" y="231343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9.40M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8592" y="231343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2.28M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31927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Develop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331927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8840" y="324612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48840" y="3246120"/>
            <a:ext cx="555785" cy="438912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3273551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900K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3273551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450K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7939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427939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420624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48840" y="4206240"/>
            <a:ext cx="296418" cy="438912"/>
          </a:xfrm>
          <a:prstGeom prst="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23367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480K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423367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360K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109960" cy="6858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431536"/>
            <a:ext cx="30632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Qualified top 3 = 56%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5431536"/>
            <a:ext cx="3429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00B8A9"/>
                </a:solidFill>
                <a:latin typeface="Aptos"/>
              </a:defRPr>
            </a:pPr>
            <a:r>
              <a:t>Open exports = 10.45M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5431536"/>
            <a:ext cx="35204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5A5F"/>
                </a:solidFill>
                <a:latin typeface="Aptos"/>
              </a:defRPr>
            </a:pPr>
            <a:r>
              <a:t>Identify outside exports = 3.94M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03 /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2026 DWIN-dated pipeline: convert 11 named plays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61872"/>
          <a:ext cx="111099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212848"/>
                <a:gridCol w="694944"/>
                <a:gridCol w="566928"/>
                <a:gridCol w="941832"/>
                <a:gridCol w="704088"/>
                <a:gridCol w="4937760"/>
              </a:tblGrid>
              <a:tr h="2705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8300_SW Platform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Aug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5131 Coherent Access Platform (CAP)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Aug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5134_Aggregation Router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13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3949 Router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5136_Aggregation Router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492K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SP-PDU CONTROL BOARD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- Process manager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30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CEP002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Dec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775K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27051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NID _ Network Interface Device_OTN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24 Dec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625K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4773168"/>
            <a:ext cx="11109960" cy="1078992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992624"/>
            <a:ext cx="24231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REVIEW COMMITMENT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4928616"/>
            <a:ext cx="836676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For each play: customer decision date • technical gap • required sample/tool/IP • named Sales + FAE + DFAE owners • evidence for the next stage.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qualified opportunities 1–7: protect the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5623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CFPGA_PCIe Gen1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Develop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19 Feb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900K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validation plan and design-freeze evidence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Long Range Tracking System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17 Mar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825K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CEP002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Dec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775K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NID _ Network Interface Device_OTN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24 Dec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625K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Anesthesia Controller_X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28 May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5136_Aggregation Router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492K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Qualified ranks 1–3 contribute 56.0% of qualified open value; inspect weekly.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qualified opportunities 8–15: build breadth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49987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5134_Aggregation Router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13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5131 Coherent Access Platform (CAP)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Aug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429K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Scanner_DCB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07 Jul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micro vapour cooling system - VCS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01 Jun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185K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13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8300_SW Platform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Aug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3949 Router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128K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SP-PDU CONTROL BOARD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18 qualified open opportunities exist; three lower-value plays sit below this Top 15.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Qualified customer portfolio: Outdu and Ciena lead open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Outdu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4.95M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127101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1.24M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8864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38527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Ciena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48840" y="1911095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48840" y="1911095"/>
            <a:ext cx="2162694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4032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2.23M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1901952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495K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6 opps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569463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GE HealthCare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2542032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48840" y="2542032"/>
            <a:ext cx="979560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4032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1.01M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532888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242K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200399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Juniper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48840" y="3172968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48840" y="3172968"/>
            <a:ext cx="872836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2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900K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4" y="3163824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450K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831336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Emerson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48840" y="3803904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48840" y="3803904"/>
            <a:ext cx="75160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14032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775K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0144" y="3794760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194K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8864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46227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Honeywell Tech.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48840" y="443484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48840" y="4434840"/>
            <a:ext cx="290945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14032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300K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4" y="442569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180K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98864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093207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Philips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48840" y="5065775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8840" y="5065775"/>
            <a:ext cx="27154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14032" y="5056631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280K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4" y="5056631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205K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98864" y="5056631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70448"/>
            <a:ext cx="11109960" cy="38404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" y="5943600"/>
            <a:ext cx="10652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Coverage check: 18/18 qualified open opportunities are direct; distributor account is blank in both exports.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Q4 2026 / 2027 account plans: convert now, then expand adjacencies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5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2084831"/>
                <a:gridCol w="3749039"/>
                <a:gridCol w="4197096"/>
              </a:tblGrid>
              <a:tr h="565785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Account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Current plays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Q4 2026 proposed focus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2027 proposed expansion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response + tracking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21 Oct architecture, BOM and evaluation gate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Replicate video/vision pipeline across tracking + analytics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Radar + industrial/aerospace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Qualify 3.00M radar; close two Design-stage evidence packs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Create radar/thermal-control solution campaign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PCIe FPGA + PQC interface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Move CFPGA through validation; qualify PQC from 0%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Position Agilex 3 for security/control-plane refresh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CT, anesthesia, power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Recover 2026 SP-PDU gate; define CT/anesthesia evaluations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Medical imaging + controller platform expansion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controller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dual-device architecture before 16 Dec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modernization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+ MRI UI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CT design evidence; define MRI UI success criteria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Imaging workflow and low-power control adjacency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5785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NID + access/aggregation routers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Prioritize five open platforms and close architecture gaps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Secure-control and network-interface platform expansion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0">
                <a:solidFill>
                  <a:srgbClr val="A8B2C7"/>
                </a:solidFill>
                <a:latin typeface="Aptos"/>
              </a:defRPr>
            </a:pPr>
            <a:r>
              <a:t>These are proposed actions inferred from stage/date/product data; validate customer commitments and support history in the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ACCOUNT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Account ownership: focus list plus allocated-customer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338328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17904"/>
            <a:ext cx="2880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PRIMARY ACCOUNTS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883664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1874520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Ciena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76856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2267712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Juniper / HPE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670048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1" y="2660904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Philips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063240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1" y="3054096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GE HealthCare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456432"/>
            <a:ext cx="20116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1" y="3447288"/>
            <a:ext cx="2514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Outdu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950208"/>
            <a:ext cx="2880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OTHER STRATEGIC / SUPPORTED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297680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88536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Siemens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4562856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553712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Boeing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4828032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18888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Honeywell Aerospace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093208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084064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Schneider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5358384"/>
            <a:ext cx="1828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349240"/>
            <a:ext cx="257860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Emerson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4133087" y="1234440"/>
          <a:ext cx="747979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53312"/>
                <a:gridCol w="822960"/>
                <a:gridCol w="1298448"/>
                <a:gridCol w="2907792"/>
              </a:tblGrid>
              <a:tr h="348175"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Location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Segment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Allocation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DFAE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Amol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DEAL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Dehradun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Mayank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C-DOT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Across India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COMM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Jan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Mayank / Amol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Sumanth / Prasad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LRDE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Sumanth / Prasad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ECON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Chennai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OTHERS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Akash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Chennai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Akash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IRDE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Dehradun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TBH / Prasad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Ghaziabad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TBH / Prasad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348175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BEL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Machilipatnam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Feb 2025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Sumanth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348180"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Bangalore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OTHERS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08 Jan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2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TBD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594360" y="5897880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80" b="0">
                <a:solidFill>
                  <a:srgbClr val="A8B2C7"/>
                </a:solidFill>
                <a:latin typeface="Aptos"/>
              </a:defRPr>
            </a:pPr>
            <a:r>
              <a:t>Allocation image: all rows list Sahil as New FAE. “Outdo” normalized to Outdu; unknown DFAE shown as TBD.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ACCOUNT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External support execution: 16 substantive issue threads in 75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ISSUE THREADS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00B8A9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15 May–28 Jul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COVERAGE WINDOW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A86FF"/>
                </a:solidFill>
                <a:latin typeface="Aptos"/>
              </a:defRPr>
            </a:pPr>
            <a:r>
              <a:t>75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external technical email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TECHNICAL THEMES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FF9F1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from tools to board bring-up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EXPLICITLY RESOLVED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DDC9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closure proven in summaries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71576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Networking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97480" y="269748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97480" y="2697480"/>
            <a:ext cx="6080760" cy="301752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42832" y="268833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26440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Board / Schematic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97480" y="324612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97480" y="3246120"/>
            <a:ext cx="6080760" cy="301752"/>
          </a:xfrm>
          <a:prstGeom prst="rect">
            <a:avLst/>
          </a:prstGeom>
          <a:solidFill>
            <a:srgbClr val="FF5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42832" y="323697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81304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Tools / AI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80" y="379476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7480" y="3794760"/>
            <a:ext cx="4560570" cy="30175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42832" y="378561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361688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PCIe / Configuration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97480" y="434340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697480" y="4343400"/>
            <a:ext cx="4560570" cy="301752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42832" y="433425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910327"/>
            <a:ext cx="19659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7FAFC"/>
                </a:solidFill>
                <a:latin typeface="Aptos"/>
              </a:defRPr>
            </a:pPr>
            <a:r>
              <a:t>Device / I/O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97480" y="4892040"/>
            <a:ext cx="6080760" cy="30175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97480" y="4892040"/>
            <a:ext cx="3040380" cy="301752"/>
          </a:xfrm>
          <a:prstGeom prst="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42832" y="4882896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100" b="1">
                <a:solidFill>
                  <a:srgbClr val="F7FAF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55480" y="2651760"/>
            <a:ext cx="2057400" cy="2770632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47504" y="2889504"/>
            <a:ext cx="1673352" cy="226771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900" b="1">
                <a:solidFill>
                  <a:srgbClr val="FF9F1C"/>
                </a:solidFill>
                <a:latin typeface="Aptos"/>
              </a:defRPr>
            </a:pPr>
            <a:r>
              <a:t>QUALITY RULE</a:t>
            </a:r>
          </a:p>
          <a:p>
            <a:pPr>
              <a:spcAft>
                <a:spcPts val="500"/>
              </a:spcAft>
              <a:defRPr sz="1100" b="1">
                <a:solidFill>
                  <a:srgbClr val="F7FAFC"/>
                </a:solidFill>
                <a:latin typeface="Aptos"/>
              </a:defRPr>
            </a:pPr>
            <a:r>
              <a:t>Only one thread explicitly records customer-confirmed resolution.</a:t>
            </a:r>
          </a:p>
          <a:p>
            <a:pPr>
              <a:spcAft>
                <a:spcPts val="500"/>
              </a:spcAft>
              <a:defRPr sz="1000" b="0">
                <a:solidFill>
                  <a:srgbClr val="DDE6F3"/>
                </a:solidFill>
                <a:latin typeface="Aptos"/>
              </a:defRPr>
            </a:pPr>
            <a:r>
              <a:t>Others show guidance, workaround, escalation or pending validation—not assumed closure.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Source: user-provided distinct external email-thread analysis, 15 May–28 Jul 2026. Internal-only/admin threads excluded.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ACCOUNT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Convert support into growth: primary-account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960120"/>
                <a:gridCol w="594360"/>
                <a:gridCol w="3291840"/>
                <a:gridCol w="4937760"/>
              </a:tblGrid>
              <a:tr h="693420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Primary account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Qualified open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Threads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Current signal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Next growth action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Ciena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2.23M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 qualified network platforms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Joint OTN/router architecture and migration review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 / HPE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 PCIe/flash support threads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Convert support into PCIe + secure-update design workshop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280K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+ MRI pipeline; no issue thread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CT evidence and MRI UI evaluation criteria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1.01M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 medical-control plays; no issue thread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Run imaging/controller platform review before issues arise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93420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4.95M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 AI/vision plays; no issue thread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AI architecture gate + run vision benchmark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596128"/>
            <a:ext cx="11109960" cy="502920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5705856"/>
            <a:ext cx="1062532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FF9F1C"/>
                </a:solidFill>
                <a:latin typeface="Aptos"/>
              </a:defRPr>
            </a:pPr>
            <a:r>
              <a:t>Critical gap: 4 of 5 primary accounts had no substantive issue thread in this window. Move from reactive support to scheduled architecture creation.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07 / 2027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FY2027 demand creation: three repeatable motions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ROBOTICS +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Industrial OEMs; Emerson + Honeywell adjacencies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Deterministic control, functional partitioning, secure connectivity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Controller architecture workshop + 3 qualified use 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59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00B8A9"/>
                </a:solidFill>
                <a:latin typeface="Aptos"/>
              </a:defRPr>
            </a:pPr>
            <a:r>
              <a:t>VIDEO + 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7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Outdu, medical imaging and smart sensing teams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7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Edge AI/video pipeline on Agilex 5 D / Agilex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7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7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Vision benchmark day + reference design + 3 evaluations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3A86FF"/>
                </a:solidFill>
                <a:latin typeface="Aptos"/>
              </a:defRPr>
            </a:pPr>
            <a:r>
              <a:t>INDUSTRIAL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Automation, medical controls and network 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PCIe/Ethernet modernization and legacy FPGA migration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Portfolio migration clinic + joint Sales/FAE account 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5216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Review decision: choose numeric 2027 creation targets after the 2027 sales objective is confirmed.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08 / READINESS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Critical-review verdict: strong analysis, incomplete execution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834640" cy="4553712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554480"/>
            <a:ext cx="23042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5A5F"/>
                </a:solidFill>
                <a:latin typeface="Aptos"/>
              </a:defRPr>
            </a:pPr>
            <a:r>
              <a:t>CURRENT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2304288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NOT YET</a:t>
            </a:r>
            <a:br/>
            <a:r>
              <a:t>READY TO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090672"/>
            <a:ext cx="2304288" cy="15727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DDE6F3"/>
                </a:solidFill>
                <a:latin typeface="Aptos"/>
              </a:defRPr>
            </a:pPr>
            <a:r>
              <a:t>The market case and opportunity analysis are strong. The team, demos, distributor ownership and conversion system are not yet committed.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047488"/>
            <a:ext cx="2304288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Fix the operating model before launching campaigns.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584448" y="1234440"/>
          <a:ext cx="8028432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208"/>
                <a:gridCol w="822960"/>
                <a:gridCol w="5541264"/>
              </a:tblGrid>
              <a:tr h="569214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Readiness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Evidence / gap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Pipeline facts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18 qualified open + 3 outside-export plays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Market + competition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Three sourced segments and an honest AMD battlecard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Support execution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GREEN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external issue threads captured with outcomes</a:t>
                      </a:r>
                    </a:p>
                  </a:txBody>
                  <a:tcPr marL="54864" marR="36576" marT="22860" marB="18288">
                    <a:solidFill>
                      <a:srgbClr val="14362E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 portfolio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Solutions exist; access, kit, maturity and demo owners need verification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Distributor team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No Arrow or Macnica specialist is named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Channel pipeline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RED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0/18 qualified open opportunities linked to a distributor</a:t>
                      </a:r>
                    </a:p>
                  </a:txBody>
                  <a:tcPr marL="54864" marR="36576" marT="22860" marB="18288">
                    <a:solidFill>
                      <a:srgbClr val="3B1D28"/>
                    </a:solidFill>
                  </a:tcPr>
                </a:tc>
              </a:tr>
              <a:tr h="569214"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Execution scorecard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AMBER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19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metrics exist; leadership and distis have not committed</a:t>
                      </a:r>
                    </a:p>
                  </a:txBody>
                  <a:tcPr marL="54864" marR="36576" marT="22860" marB="18288">
                    <a:solidFill>
                      <a:srgbClr val="3A2F1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39312" y="5916168"/>
            <a:ext cx="7863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80" b="1">
                <a:solidFill>
                  <a:srgbClr val="FF9F1C"/>
                </a:solidFill>
                <a:latin typeface="Aptos"/>
              </a:defRPr>
            </a:pPr>
            <a:r>
              <a:t>Review decision: approve the joint Altera–Arrow–Macnica tiger team, owners, readiness dates and Q4 scorecard.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09 / SOLUTION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Altera solution arsenal: lead with demonstrable systems, not device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F9F1C"/>
                </a:solidFill>
                <a:latin typeface="Aptos"/>
              </a:defRPr>
            </a:pPr>
            <a:r>
              <a:t>ROBOTICS +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ROS Consolidated Robot Controller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Drive-on-Chip motor control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Drive-on-Chip with PLC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HPS TSN 3×2.5G SGMII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Sensor Fusion Platform for AMRs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Functional-safety flow / FSDP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3127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00B8A9"/>
                </a:solidFill>
                <a:latin typeface="Aptos"/>
              </a:defRPr>
            </a:pPr>
            <a:r>
              <a:t>CAMERA + EDGE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7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18303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Holoscan Sensor Bridge: MIPI→10GbE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127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303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4Kp60 Multi-Sensor HDR Camera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7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18303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4Kp30 Multi-Sensor Camera +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7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18303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Smart Camera Demo Kit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53127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18303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45+ Video &amp; Vision Processing IPs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3127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18303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FPGA AI Suite + MIPI CSI-2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53127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2168" y="1554480"/>
            <a:ext cx="3090672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3A86FF"/>
                </a:solidFill>
                <a:latin typeface="Aptos"/>
              </a:defRPr>
            </a:pPr>
            <a:r>
              <a:t>PARTNER PLATFORMS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2168" y="20299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20208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Arrow Eagle Board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02168" y="257860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7344" y="256946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Macnica Sulphur Agilex 5 kit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02168" y="312724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67344" y="311810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Macnica MEP100 ST2110 SmartNIC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02168" y="3675887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366674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Agilex 5 Modular / Premium kits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02168" y="422452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7344" y="421538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Critical Link vision modules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02168" y="4773168"/>
            <a:ext cx="21945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67344" y="4764024"/>
            <a:ext cx="27432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7FAFC"/>
                </a:solidFill>
                <a:latin typeface="Aptos"/>
              </a:defRPr>
            </a:pPr>
            <a:r>
              <a:t>IntoPIX JPEG-XS ecosystem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02168" y="5422392"/>
            <a:ext cx="306324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VERIFY: access • kit • owner • benchmark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[R4], [R7], [R8], [R19], [R20]. Holoscan is NVIDIA technology integrated by Altera reference designs; solution access/maturity must be checked.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09 / SOLUTION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Solution readiness: every offer needs an owner, running kit and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07008"/>
          <a:ext cx="1110996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2057400"/>
                <a:gridCol w="1993392"/>
                <a:gridCol w="4983480"/>
                <a:gridCol w="594360"/>
              </a:tblGrid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Solution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Minimum owner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Platform / kit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Proof required before customer campaign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Ready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ROS robot controller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Sahil + Robotics DFAE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Sensor→actuator jitter + ROS 2 integration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Holoscan bridge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Camera/AI DFAE + Macnica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Premium + MIPI + 10GbE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 stream into NVIDIA Holoscan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4Kp60 HDR camera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Sahil + Macnica expert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Modular + camera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ISP image quality, latency and power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4Kp30 camera + 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DFAE + Arrow expert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kit + customer model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Ingest→inference→display benchmark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Drive-on-Chip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Control DFAE + Arrow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Modular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Motor-loop latency and integration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3×2.5G TSN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DFAE + Sahil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Multi-node sync, jitter and topology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Sensor fusion / AMR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Robotics expert + Macnica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A5 + sensor set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Time-aligned multi-sensor pipeline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3560"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Smart camera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Critical Link + joint team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Partner kit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 model + production BOM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3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□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Readiness means the team can run the demo, explain limitations, reproduce results and support an evaluation. A web page alone is not readiness.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JOINT GTM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This is not a one-person job: form one market-penetration tiger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00B8A9"/>
                </a:solidFill>
                <a:latin typeface="Aptos"/>
              </a:defRPr>
            </a:pPr>
            <a:r>
              <a:t>ALTERA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7802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00B8A9"/>
                </a:solidFill>
                <a:latin typeface="Aptos"/>
              </a:defRPr>
            </a:pPr>
            <a:r>
              <a:t>NAMED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Sahil — program + solution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segment strategy and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Coordinate Robotics, AI/Vision, TSN/FuSa DFAEs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Define benchmark method and technical red lines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00B8A9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Escalate product/IP/roadmap gaps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7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FF9F1C"/>
                </a:solidFill>
                <a:latin typeface="Aptos"/>
              </a:defRPr>
            </a:pPr>
            <a:r>
              <a:t>ARROW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FF9F1C"/>
                </a:solidFill>
                <a:latin typeface="Aptos"/>
              </a:defRPr>
            </a:pPr>
            <a:r>
              <a:t>DUE 05 AUG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7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[Name required] — joint specialist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7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18303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Robotics/AI/camera technical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7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18303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Arrow account map and opportunity follow-up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7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3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Maintain Eagle/A5 kits, samples and logistics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7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FF9F1C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18303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Run workshops and CRM hygiene with Sales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2168" y="1527048"/>
            <a:ext cx="16459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400" b="1">
                <a:solidFill>
                  <a:srgbClr val="3A86FF"/>
                </a:solidFill>
                <a:latin typeface="Aptos"/>
              </a:defRPr>
            </a:pPr>
            <a:r>
              <a:t>MACNICA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6104" y="1545336"/>
            <a:ext cx="12527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750" b="1">
                <a:solidFill>
                  <a:srgbClr val="3A86FF"/>
                </a:solidFill>
                <a:latin typeface="Aptos"/>
              </a:defRPr>
            </a:pPr>
            <a:r>
              <a:t>DUE 05 AUG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2168" y="1938528"/>
            <a:ext cx="309067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[Name required] — joint specialist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02168" y="2697480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67344" y="2688336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Robotics/AI/camera technical coverage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8" y="3282696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3273552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Own Macnica account map and opportunity follow-up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2168" y="3867912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67344" y="3858768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Bring Sulphur, MEP100 and video ecosystem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02168" y="4453128"/>
            <a:ext cx="20116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3A86FF"/>
                </a:solidFill>
                <a:latin typeface="Aptos"/>
              </a:defRPr>
            </a:pPr>
            <a: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7344" y="4443984"/>
            <a:ext cx="276148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19" b="1">
                <a:solidFill>
                  <a:srgbClr val="DDE6F3"/>
                </a:solidFill>
                <a:latin typeface="Aptos"/>
              </a:defRPr>
            </a:pPr>
            <a:r>
              <a:t>Run evaluations and close integration gaps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888736"/>
            <a:ext cx="10881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F9F1C"/>
                </a:solidFill>
                <a:latin typeface="Aptos"/>
              </a:defRPr>
            </a:pPr>
            <a:r>
              <a:t>Minimum formation rule: one named robotics/AI/camera-capable specialist from each organization, backed by Altera specialist DFAEs.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10 / JOINT GTM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Joint market penetration: ready → target → prove → convert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344168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05 AUG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FORM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234440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1362456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Name Arrow + Macnica specialists; approve charter, segment roles and weekly cadence.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30552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240280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14 AUG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468880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READY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57400" y="2130552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2258568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Run internal enablement; verify solution access; establish ≥1 working robotics and ≥1 camera/AI demo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026664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136392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BY 31 AUG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57400" y="3026664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1720" y="3154680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Build 30-account map: 15 Arrow + 15 Macnica; rank pains, installed competition and sponsor.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22776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4032504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SEP–OCT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" y="4261104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ENGAGE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7400" y="3922776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4050791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12 customer workshops; 8 benchmark/evaluation starts; joint Sales–FAE–disti follow-up in 48 hours.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18888"/>
            <a:ext cx="1371600" cy="676656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4928616"/>
            <a:ext cx="1024128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A8B2C7"/>
                </a:solidFill>
                <a:latin typeface="Aptos"/>
              </a:defRPr>
            </a:pPr>
            <a:r>
              <a:t>Q4 CLOSE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" y="5157216"/>
            <a:ext cx="102412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CONVERT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57400" y="4818888"/>
            <a:ext cx="9555480" cy="676656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31720" y="4946903"/>
            <a:ext cx="9006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40" b="1">
                <a:solidFill>
                  <a:srgbClr val="F7FAFC"/>
                </a:solidFill>
                <a:latin typeface="Aptos"/>
              </a:defRPr>
            </a:pPr>
            <a:r>
              <a:t>Proposed target: 6 qualified opportunities, 3 Develop/Design-stage plays and 2 DWINs.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806440"/>
            <a:ext cx="11109960" cy="347472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870448"/>
            <a:ext cx="10625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80" b="1">
                <a:solidFill>
                  <a:srgbClr val="FF9F1C"/>
                </a:solidFill>
                <a:latin typeface="Aptos"/>
              </a:defRPr>
            </a:pPr>
            <a:r>
              <a:t>These are proposed critical-review commitments—not achieved results. Leadership, Arrow and Macnica must accept or reset them in the meeting.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Market review: growth is real, but proof-of-value wins budgets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ROBOTICS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9,100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robots installed in India in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+7% YoY • India ranked #6 • automotive = 45% of installs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FF9F1C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Prioritize automotive suppliers, machine builders and control platforms; sell deterministic integration, not an FPGA.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59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7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VIDEO + VISION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7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$5.7B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7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2025 global machine-vision forecast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+1.5% after a 3.9% decline in 2024 • price pressure remains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00B8A9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7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Lead with workload benchmarks, integration time and sensor flexibility; generic camera growth is not enough.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261872"/>
            <a:ext cx="349300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02168" y="1536192"/>
            <a:ext cx="3090672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INDUSTRIAL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1947672"/>
            <a:ext cx="3090672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900" b="1">
                <a:solidFill>
                  <a:srgbClr val="F7FAFC"/>
                </a:solidFill>
                <a:latin typeface="Aptos"/>
              </a:defRPr>
            </a:pPr>
            <a:r>
              <a:t>94%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2487168"/>
            <a:ext cx="3090672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DDE6F3"/>
                </a:solidFill>
                <a:latin typeface="Aptos"/>
              </a:defRPr>
            </a:pPr>
            <a:r>
              <a:t>of APAC manufacturers investing/planning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3108960"/>
            <a:ext cx="3090672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0">
                <a:solidFill>
                  <a:srgbClr val="A8B2C7"/>
                </a:solidFill>
                <a:latin typeface="Aptos"/>
              </a:defRPr>
            </a:pPr>
            <a:r>
              <a:t>quality control 47% • process optimization 43% • cyber is critical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8" y="3950208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3A86FF"/>
                </a:solidFill>
                <a:latin typeface="Aptos"/>
              </a:defRPr>
            </a:pPr>
            <a:r>
              <a:t>COMMERCIAL IMPLICATION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4261104"/>
            <a:ext cx="3090672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Package edge AI with control, networking, safety and security around a measurable factory KPI.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[R1] IFR World Robotics 2025  •  [R3] Interact Analysis, Jun 2025  •  [R2] Rockwell APAC Smart Manufacturing 2025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Robotics: India is scaling; own the deterministic control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MARKET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1012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542K global robot installs in 2024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4.664M operational stock; +9% YoY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India: 9.1K installs, +7%, #6 globally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45% of India installs were automotive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IFR forecasts 575K global installs in 2025 and &gt;700K by 2028.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AMD Xilinx strength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Kria KR260: production SOM path, native ROS 2 and Kria Robotics Stack.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ROS 2 controller, Drive-on-Chip, safety, sensor fusion and 3×2.5G TSN reference designs.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Demonstrate lower end-to-end jitter and fewer devices for the customer's exact control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PROPOSED 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Target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Robot OEMs, AMR makers, automotive suppliers and control-system integrators.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Sense→think→act workshop using Agilex 5 SoC, TSN and functional-safety architecture.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12 named accounts • 6 workshops • 3 evaluations • 2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[R1] IFR World Robotics 2025  •  [R4] Altera Robotics Stack  •  [R5] Agilex 5  •  [R6] AMD Kria KR260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Video + vision: recovery is selective; benchmark the whole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MARKET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37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2024 global market: −3.9%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Inventory correction and manufacturing softness</a:t>
            </a:r>
          </a:p>
          <a:p>
            <a:pPr>
              <a:spcAft>
                <a:spcPts val="500"/>
              </a:spcAft>
              <a:defRPr sz="1600" b="1">
                <a:solidFill>
                  <a:srgbClr val="F7FAFC"/>
                </a:solidFill>
                <a:latin typeface="Aptos"/>
              </a:defRPr>
            </a:pPr>
            <a:r>
              <a:t>2025 forecast: +1.5% to $5.7B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2028 forecast: $7B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Area-scan cameras fell 7.8%; APAC vendor price pressure makes undifferentiated hardware vulnerable.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4015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AMD Xilinx strength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KV260 quick start, multi-camera interfaces, Vitis Vision/AI and Versal AI Engine scale.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45+ VVP IP cores, &gt;600 MHz claimed Fmax, 8K60+ optimization and FPGA AI Suite.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Customer-model benchmark: ingest + ISP + inference + output latency, power and engineering weeks.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PROPOSED 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Named beachheads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Outdu tracking/analytics; GE + Philips medical imaging; industrial inspection.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Bring-your-model vision benchmark day with two sensor interfaces and a production BOM.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8 accounts • 4 benchmarks • 3 evaluations • 2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[R3] Interact Analysis  •  [R7] Altera VVP Suite  •  [R8] FPGA AI Suite  •  [R9] AMD KV260  •  [R10] Versal AI Edge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11 / MARKET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Industrial: AI spending converges with control, safety and cyber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365760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3A86FF"/>
                </a:solidFill>
                <a:latin typeface="Aptos"/>
              </a:defRPr>
            </a:pPr>
            <a:r>
              <a:t>MARKET EVIDENCE — APAC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246120" cy="33375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F7FAFC"/>
                </a:solidFill>
                <a:latin typeface="Aptos"/>
              </a:defRPr>
            </a:pPr>
            <a:r>
              <a:t>94% investing / planning AI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47%: quality control is top AI use case</a:t>
            </a:r>
          </a:p>
          <a:p>
            <a:pPr>
              <a:spcAft>
                <a:spcPts val="500"/>
              </a:spcAft>
              <a:defRPr sz="1600" b="1">
                <a:solidFill>
                  <a:srgbClr val="F7FAFC"/>
                </a:solidFill>
                <a:latin typeface="Aptos"/>
              </a:defRPr>
            </a:pPr>
            <a:r>
              <a:t>43%: process optimization</a:t>
            </a:r>
          </a:p>
          <a:p>
            <a:pPr>
              <a:spcAft>
                <a:spcPts val="500"/>
              </a:spcAft>
              <a:defRPr sz="1200" b="0">
                <a:solidFill>
                  <a:srgbClr val="DDE6F3"/>
                </a:solidFill>
                <a:latin typeface="Aptos"/>
              </a:defRPr>
            </a:pPr>
            <a:r>
              <a:t>95%: cyber standards important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The buying unit spans OT control, data, safety and security—not a single component owner.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261872"/>
            <a:ext cx="3456432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54480"/>
            <a:ext cx="299923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COMPETITIVE BATTLEFIELD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1938528"/>
            <a:ext cx="3017520" cy="3401568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Shared table stakes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AMD and Altera both offer TSN, industrial connectivity and certified safety flows.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Altera proof point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Agilex 5 SoC integrates three hardened 2.5G TSN MACs; Drive-on-Chip and FSDP support.</a:t>
            </a:r>
          </a:p>
          <a:p>
            <a:pPr>
              <a:spcAft>
                <a:spcPts val="500"/>
              </a:spcAft>
              <a:defRPr sz="1000" b="1">
                <a:solidFill>
                  <a:srgbClr val="3A86FF"/>
                </a:solidFill>
                <a:latin typeface="Aptos"/>
              </a:defRPr>
            </a:pPr>
            <a:r>
              <a:t>Win condition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Quantify BOM consolidation, deterministic cycle time and certification work saved.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261872"/>
            <a:ext cx="3584448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554480"/>
            <a:ext cx="31272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PROPOSED 2027 MOTION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38528"/>
            <a:ext cx="3154680" cy="3456432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Named beachheads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Emerson controller; Honeywell automation; machine builders via Arrow/Macnica.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Offer</a:t>
            </a:r>
          </a:p>
          <a:p>
            <a:pPr>
              <a:spcAft>
                <a:spcPts val="500"/>
              </a:spcAft>
              <a:defRPr sz="1200" b="0">
                <a:solidFill>
                  <a:srgbClr val="F7FAFC"/>
                </a:solidFill>
                <a:latin typeface="Aptos"/>
              </a:defRPr>
            </a:pPr>
            <a:r>
              <a:t>Industrial platform clinic: TSN + PLC/control + safety + secure lifecycle.</a:t>
            </a:r>
          </a:p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Proposed scorecard</a:t>
            </a:r>
          </a:p>
          <a:p>
            <a:pPr>
              <a:spcAft>
                <a:spcPts val="500"/>
              </a:spcAft>
              <a:defRPr sz="1200" b="1">
                <a:solidFill>
                  <a:srgbClr val="F7FAFC"/>
                </a:solidFill>
                <a:latin typeface="Aptos"/>
              </a:defRPr>
            </a:pPr>
            <a:r>
              <a:t>15 accounts • 6 clinics • 4 evaluations • 3 qualified opportunities • 1 DWIN.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[R2] Rockwell APAC 2025  •  [R11–R15] Altera/AMD industrial networking and functional-safety sources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12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Competitive portfolio map: no single one-for-one device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017520"/>
                <a:gridCol w="3017520"/>
                <a:gridCol w="3840480"/>
              </a:tblGrid>
              <a:tr h="905256"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Battlefield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Xilinx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4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FAE comparison rule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Cost / I/O edge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 C: FPGA + optional dual A55 SoC, AI tensor DSP, MIPI, 12.5G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Spartan UltraScale+: high I/O, 16.3G, PCIe Gen4, hardened LPDDR; no processor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Compare package, I/O mix, BOM, power and required processor—not density labels.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Midrange embedded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E: A76/A55 SoC options, 3×2.5G TSN, AI tensor blocks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Zynq UltraScale+ MPSoC / Kria K26: mature SOM and software ecosystem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Altera: consolidation + hard TSN. AMD: fast SOM/ROS path. Prove development effort.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/ vision scale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D/E + FPGA AI Suite + VVP; custom streaming data path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AI Edge + AI Engines; Kria KV260 for fast vision evaluation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TOPS are not directly comparable. Benchmark the customer's model and full pipeline.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905256"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High-end adaptable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7/9 families for high bandwidth, RF and complex acceleration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Premium / AI Core / RF families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Treat as architecture-led pursuits; involve product-line DFAEs before device claims.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Never compare LE vs logic-cell counts or headline TOPS as equivalent metrics; normalize the workload, precision, sparsity, clocks, power and tool version.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[R5], [R8], [R10], [R16], [R17] — official vendor product pages; claims remain vendor-stated until customer benchmark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12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Altera vs AMD Xilinx: evidence-based battlecard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07008"/>
          <a:ext cx="111099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816352"/>
                <a:gridCol w="2816352"/>
                <a:gridCol w="4471416"/>
              </a:tblGrid>
              <a:tr h="679268"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Criterion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Altera evidence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Xilinx evidence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8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Implication / honest position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Robotics SW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ROS 2 controller + Drive-on-Chip reference stack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KR260 + native ROS 2 + KRS + production K26 SOM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AMD advantage for software-first/SOM buyers; counter with deterministic consolidation proof.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Vision IP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45+ VVP cores; FPGA AI Suite; custom streaming fabric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Vitis Vision/AI; KV260; Versal AI Engines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Both credible. Win on measured end-to-end latency, power and engineering effort.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scale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3/5/7 portfolio; vendor claims up to 152.6 INT8 TOPS on A5 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Versal AI Edge vendor table: 5–202 dense INT8 TOPS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Do not rank by TOPS alone; architectures, devices and assumptions differ.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TSN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5 SoC: three hardened 2.5G TSN MACs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100M/1G TSN LogiCORE; broader industrial protocol ecosystem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Lead with integration/BOM if hard TSN fits; validate exact protocol and topology.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79268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Functional safety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TÜV-reviewed FSDP/methodology; stated suitability up to SIL3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TÜV SÜD-certified flows; IEC 61508 / ISO 13849 support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Table stakes for both. Compare exact device/tool/IP certificate scope.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79272"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Cost / I/O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Agilex 3: SoC option, MIPI, AI tensor DSP, 12.5G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Spartan UltraScale+: up to 572 I/O, 16.3G, PCIe Gen4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76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Use customer pinout + board-cost study. Neither wins every configuration.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291072"/>
            <a:ext cx="109728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20" b="0">
                <a:solidFill>
                  <a:srgbClr val="A8B2C7"/>
                </a:solidFill>
                <a:latin typeface="Aptos"/>
              </a:defRPr>
            </a:pPr>
            <a:r>
              <a:t>[R4–R18] Official vendor sources. “Advantage” statements are sales assessments, not third-party benchmark conclusions.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12 / COMPETITION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How to win against AMD Xilinx: replace claims with customer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44751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1  DISCOVER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261872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389888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Installed device/tool flow? Decision owner? Workload? Pain: latency, power, I/O, BOM, safety or schedule?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39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331720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2  BASELINE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2148839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1488" y="2276856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Capture AMD reference: exact device/board, tool version, model precision, interfaces, clocks and measured power.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35808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218688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00B8A9"/>
                </a:solidFill>
                <a:latin typeface="Aptos"/>
              </a:defRPr>
            </a:pPr>
            <a:r>
              <a:t>3  PROVE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3035808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61488" y="3163824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Run the same workload on Altera; publish reproducible scripts, resource use, latency distribution, power and BOM.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22776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105656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4  DE-RISK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14600" y="3922776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4050791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Close IP gaps, migration effort, safety scope, supply/lifecycle and support plan with named DFAEs.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809744"/>
            <a:ext cx="1847088" cy="65836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992624"/>
            <a:ext cx="1444752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5  COMMERCIALIZE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14600" y="4809744"/>
            <a:ext cx="9098280" cy="65836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1488" y="4937759"/>
            <a:ext cx="8613648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Convert evaluation success into architecture freeze, DWIN evidence and production forecast.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33872"/>
            <a:ext cx="11109960" cy="320040"/>
          </a:xfrm>
          <a:prstGeom prst="roundRect">
            <a:avLst/>
          </a:prstGeom>
          <a:solidFill>
            <a:srgbClr val="2B1D2F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5879592"/>
            <a:ext cx="1062532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Red line: do not use vendor headline TOPS, power or performance claims as an apples-to-apples result without reproducing the workload.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13 / TEAM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DFAE + ecosystem engagement: attach expertise to stage exits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Sponsor, use case, value, budget and decision process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9272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FAE + specialist DFAE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Block diagram, device fit, IP/tools and risk register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Customer + FAE + DFAE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Evaluation results, issue closure and design-freeze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PRODUCTION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 + channel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DW evidence, forecast, supply path and production handoff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041648"/>
            <a:ext cx="11109960" cy="150876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315968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WEEKLY OPERATING CADENCE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Top-5 stage/gap inspection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WED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Customer/DFAE action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FRI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Evidence + CRM hygiene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MONTH-END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Pipeline creation + conversion scorecard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14 / COMMITMENTS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Close the review with owners, evidence and missing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6675120" cy="4526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54480"/>
            <a:ext cx="61722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PROPOSED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3392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Name next-stage evidence and due date for every top-5 opportunity.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88336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688336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Qualify Weather Radar and CPU Interface Card from 0% or remove value from the active forecast.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383280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383280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Name one Arrow and one Macnica robotics/AI/camera specialist by 05 Aug; verify solution readiness by 14 Aug.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078224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078224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Publish a 30-account Arrow + Macnica map and create the 15th strategic opportunity.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773168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773168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Run three joint benchmark-led campaigns and inspect workshops, evaluations, qualified pipeline and DWINs weekly.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261872"/>
            <a:ext cx="420624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2672" y="1554480"/>
            <a:ext cx="37033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F5A5F"/>
                </a:solidFill>
                <a:latin typeface="Aptos"/>
              </a:defRPr>
            </a:pPr>
            <a:r>
              <a:t>INPUTS TO COMPLETE BEFORE PRESENTING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99339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1" y="199339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2026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44144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244144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YTD actual / achieved DWINs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889504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889504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Gap-closure value and dates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337560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337560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Support activity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785616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1" y="3785616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Customer market-share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23367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431" y="423367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Arrow + Macnica specialist names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68172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8431" y="468172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Named solution DFAEs / kit status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5266944"/>
            <a:ext cx="3611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B8A9"/>
                </a:solidFill>
                <a:latin typeface="Aptos"/>
              </a:defRPr>
            </a:pPr>
            <a:r>
              <a:t>No invented numbers.</a:t>
            </a:r>
            <a:br/>
            <a:r>
              <a:t>Fill, validate, commit.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Appendix: scope, definitions and data-quality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4358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24358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Reporting scope attributes Sahil Patni + Kasturi Rangan to Sahil. Master: 21 opportunities; open exports: 18.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0195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BUCKETS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90195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“2026” and “2027” are the user-provided export labels. Membership is not inferred from Design Win Date; the 2027 export includes some 2026 DWIN dates.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PEAK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560320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Product-line Peak Value summed within each Opportunity ID. Source file does not encode currency.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18688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WEIGHTED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218688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Consolidated peak value × source probability. Identify opportunities at 0% therefore contribute zero.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DWIN-DATED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877056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Opportunity Design Win Date falls in the stated year. This is a scheduled date, not proof of an achieved design win.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3542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53542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Source mixes Excel dates and text dates; both were normalized for analysis.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9379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19379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All 18 uploaded open opportunities are direct and Distributor Account is blank. No channel-owned pipeline is evidenced.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98464"/>
            <a:ext cx="10881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Regenerate with: python3 qbr/generate_sahil_qbr.py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 /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References: market evidence and solution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430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4300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International Federation of Robotics, World Robotics 2025 press release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14300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https://ifr.org/ifr-press-releases/news/global-robot-demand-in-factories-doubles-over-10-years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27632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Rockwell Automation, 2025 State of Smart Manufacturing — APAC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627632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https://www.rockwellautomation.com/en-sg/company/news/press-releases/apac-sosm-2025.html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1226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1226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Interact Analysis, Machine Vision return-to-growth forecast, June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11226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https://interactanalysis.com/return-to-growth-forecast-for-machine-vision-in-2025-despite-us-tariffs/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9689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9689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Robotics Solutions Stack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259689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https://www.altera.com/fpga-solutions/robotics-solutions-stack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08152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08152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FPGA and SoC FPGA overview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08152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https://www.altera.com/products/fpga/agilex/5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6616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56616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Kria KR260 robotics platform and Kria Robotics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56616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https://www.amd.com/en/products/system-on-modules/kria/k26/robotics.html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050791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050791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Video and Vision Processing Suite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4050791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https://www.altera.com/products/ip/po-3150/video-and-vision-processing-suite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53542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53542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FPGA AI Suite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2" y="453542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https://www.altera.com/products/development-tools/fpga-ai-suite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02005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2005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Kria KV260 Vision AI Starter Kit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502005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https://www.amd.com/en/products/system-on-modules/kria/k26/kv260-vision-starter-kit.html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50468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50468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Versal AI Edge Series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550468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https://www.amd.com/en/products/adaptive-socs-and-fpgas/versal/ai-edge-series.html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26480"/>
            <a:ext cx="10881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FF9F1C"/>
                </a:solidFill>
                <a:latin typeface="Aptos"/>
              </a:defRPr>
            </a:pPr>
            <a:r>
              <a:t>Accessed 28 Jul 2026. Vendor specifications and performance figures are vendor-stated; validate against current datasheets and customer workloads.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 /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References: competitive product and tool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4300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14300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Industrial solutions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14300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https://www.altera.com/fpga-solutions/industrial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27632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SoC HPS features including three 2.5G TSN Ethernet MACs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627632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https://docs.altera.com/r/docs/762191/current/agilextm-5-fpgas-and-socs-device-overview/additional-features-for-agilextm-5-socs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11226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11226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Industrial Networking 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11226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https://www.amd.com/en/solutions/industrial/industrial-networking.html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59689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9689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5 Functional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3792" y="259689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https://docs.altera.com/api/khub/documents/xhgkkZ1PZaLEHFnNiUlbNA/content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08152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08152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Functional Safety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08152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https://www.amd.com/en/products/adaptive-socs-and-fpgas/technologies/functional-safety.html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66160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566160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Agilex 3 FPGA and SoC FPGA 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792" y="3566160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https://www.altera.com/products/fpga/agilex/3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050791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050791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Spartan UltraScale+ FPGA overview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792" y="4050791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https://www.amd.com/en/products/adaptive-socs-and-fpgas/fpga/spartan-ultrascale-plus.html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535424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535424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AMD, Vitis unified software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3792" y="4535424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https://www.amd.com/en/products/software/adaptive-socs-and-fpgas/vitis.html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020056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20056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Video Solutions Stack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93792" y="5020056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https://www.altera.com/fpga-solutions/video-solutions-stack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504688"/>
            <a:ext cx="5029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R20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504688"/>
            <a:ext cx="4023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80" b="1">
                <a:solidFill>
                  <a:srgbClr val="F7FAFC"/>
                </a:solidFill>
                <a:latin typeface="Aptos"/>
              </a:defRPr>
            </a:pPr>
            <a:r>
              <a:t>Altera, Sensor Interfaces including Holoscan Sensor Bridge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93792" y="5504688"/>
            <a:ext cx="632764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680" b="0">
                <a:solidFill>
                  <a:srgbClr val="DDE6F3"/>
                </a:solidFill>
                <a:latin typeface="Aptos"/>
              </a:defRPr>
            </a:pPr>
            <a:r>
              <a:t>https://www.altera.com/fpga-solutions/sensory-interfaces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26480"/>
            <a:ext cx="108813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1">
                <a:solidFill>
                  <a:srgbClr val="FF9F1C"/>
                </a:solidFill>
                <a:latin typeface="Aptos"/>
              </a:defRPr>
            </a:pPr>
            <a:r>
              <a:t>Accessed 28 Jul 2026. Vendor specifications and performance figures are vendor-stated; validate against current datasheets and customer workloads.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