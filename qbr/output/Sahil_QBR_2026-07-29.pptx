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3657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00B8A9"/>
                </a:solidFill>
                <a:latin typeface="Aptos"/>
              </a:defRPr>
            </a:pPr>
            <a:r>
              <a:t>QUARTERLY BUSINESS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7863840" cy="12070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3500" b="1">
                <a:solidFill>
                  <a:srgbClr val="F7FAFC"/>
                </a:solidFill>
                <a:latin typeface="Aptos"/>
              </a:defRPr>
            </a:pPr>
            <a:r>
              <a:t>Own the next gate.</a:t>
            </a:r>
            <a:br/>
            <a:r>
              <a:t>Build the 2027 engine.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42032"/>
            <a:ext cx="72237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800" b="0">
                <a:solidFill>
                  <a:srgbClr val="DDE6F3"/>
                </a:solidFill>
                <a:latin typeface="Aptos"/>
              </a:defRPr>
            </a:pPr>
            <a:r>
              <a:t>FAE plan review  •  Altera + Arrow + Macnica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69494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0">
                <a:solidFill>
                  <a:srgbClr val="A8B2C7"/>
                </a:solidFill>
                <a:latin typeface="Aptos"/>
              </a:defRPr>
            </a:pPr>
            <a:r>
              <a:t>Wednesday, 29 July 2026  |  12:00–13:00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58200" y="685800"/>
            <a:ext cx="2971800" cy="507492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96528" y="1078992"/>
            <a:ext cx="22860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PIPELINE SNAPSHOT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96528" y="1508760"/>
            <a:ext cx="228600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3100" b="1">
                <a:solidFill>
                  <a:srgbClr val="00B8A9"/>
                </a:solidFill>
                <a:latin typeface="Aptos"/>
              </a:defRPr>
            </a:pPr>
            <a:r>
              <a:t>8.22M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1993392"/>
            <a:ext cx="2286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0">
                <a:solidFill>
                  <a:srgbClr val="DDE6F3"/>
                </a:solidFill>
                <a:latin typeface="Aptos"/>
              </a:defRPr>
            </a:pPr>
            <a:r>
              <a:t>qualified open value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96528" y="2487168"/>
            <a:ext cx="228600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3100" b="1">
                <a:solidFill>
                  <a:srgbClr val="3A86FF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96528" y="2971800"/>
            <a:ext cx="2286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0">
                <a:solidFill>
                  <a:srgbClr val="DDE6F3"/>
                </a:solidFill>
                <a:latin typeface="Aptos"/>
              </a:defRPr>
            </a:pPr>
            <a:r>
              <a:t>qualified open opportunities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96528" y="3456432"/>
            <a:ext cx="228600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3100" b="1">
                <a:solidFill>
                  <a:srgbClr val="FF9F1C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96528" y="3941063"/>
            <a:ext cx="2286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0">
                <a:solidFill>
                  <a:srgbClr val="DDE6F3"/>
                </a:solidFill>
                <a:latin typeface="Aptos"/>
              </a:defRPr>
            </a:pPr>
            <a:r>
              <a:t>direct-account customers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96528" y="4590288"/>
            <a:ext cx="2286000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5A5F"/>
                </a:solidFill>
                <a:latin typeface="Aptos"/>
              </a:defRPr>
            </a:pPr>
            <a:r>
              <a:t>Target + actual</a:t>
            </a:r>
            <a:br/>
            <a:r>
              <a:t>inputs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199632"/>
            <a:ext cx="75895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A8B2C7"/>
                </a:solidFill>
                <a:latin typeface="Aptos"/>
              </a:defRPr>
            </a:pPr>
            <a:r>
              <a:t>Prepared from master + 2026/2027 open-pipeline exports  •  Values shown without assumed currency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01 / 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Executive snapshot: 8.22M qualified open; 3.60M still unqualified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QUALIFIED OPEN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00B8A9"/>
                </a:solidFill>
                <a:latin typeface="Aptos"/>
              </a:defRPr>
            </a:pPr>
            <a:r>
              <a:t>8.22M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12 opportunities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07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WEIGHTED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07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3A86FF"/>
                </a:solidFill>
                <a:latin typeface="Aptos"/>
              </a:defRPr>
            </a:pPr>
            <a:r>
              <a:t>2.51M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07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probability × peak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2026 OPEN EXPORT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FF9F1C"/>
                </a:solidFill>
                <a:latin typeface="Aptos"/>
              </a:defRPr>
            </a:pPr>
            <a:r>
              <a:t>4.12M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39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1 opportunity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25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971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2027 OPEN EXPORT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971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3DDC97"/>
                </a:solidFill>
                <a:latin typeface="Aptos"/>
              </a:defRPr>
            </a:pPr>
            <a:r>
              <a:t>4.09M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71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11 opportunities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2542032"/>
            <a:ext cx="6903720" cy="352044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2788920"/>
            <a:ext cx="6446520" cy="29718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WHAT THE DATA SAYS</a:t>
            </a:r>
          </a:p>
          <a:p>
            <a:pPr>
              <a:spcAft>
                <a:spcPts val="500"/>
              </a:spcAft>
              <a:defRPr sz="1500" b="0">
                <a:solidFill>
                  <a:srgbClr val="F7FAFC"/>
                </a:solidFill>
                <a:latin typeface="Aptos"/>
              </a:defRPr>
            </a:pPr>
            <a:r>
              <a:t>• 3.60M across two Identify / 0% plays is absent from both open-pipeline exports.</a:t>
            </a:r>
          </a:p>
          <a:p>
            <a:pPr>
              <a:spcAft>
                <a:spcPts val="500"/>
              </a:spcAft>
              <a:defRPr sz="1500" b="0">
                <a:solidFill>
                  <a:srgbClr val="F7FAFC"/>
                </a:solidFill>
                <a:latin typeface="Aptos"/>
              </a:defRPr>
            </a:pPr>
            <a:r>
              <a:t>• Outdu AI is 4.12M (50% of qualified open value) but remains Define.</a:t>
            </a:r>
          </a:p>
          <a:p>
            <a:pPr>
              <a:spcAft>
                <a:spcPts val="500"/>
              </a:spcAft>
              <a:defRPr sz="1500" b="0">
                <a:solidFill>
                  <a:srgbClr val="F7FAFC"/>
                </a:solidFill>
                <a:latin typeface="Aptos"/>
              </a:defRPr>
            </a:pPr>
            <a:r>
              <a:t>• Q4 2026 DWIN-dated pipeline is 5.04M, yet weighted value is only 1.26M.</a:t>
            </a:r>
          </a:p>
          <a:p>
            <a:pPr>
              <a:spcAft>
                <a:spcPts val="500"/>
              </a:spcAft>
              <a:defRPr sz="1500" b="0">
                <a:solidFill>
                  <a:srgbClr val="F7FAFC"/>
                </a:solidFill>
                <a:latin typeface="Aptos"/>
              </a:defRPr>
            </a:pPr>
            <a:r>
              <a:t>• Bucket membership comes from the uploaded files; it is not derived from Design Win Date.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35240" y="2542032"/>
            <a:ext cx="3977639" cy="352044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82127" y="2788920"/>
            <a:ext cx="3456432" cy="29260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F9F1C"/>
                </a:solidFill>
                <a:latin typeface="Aptos"/>
              </a:defRPr>
            </a:pPr>
            <a:r>
              <a:t>DECISIONS FOR THE REVIEW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1  Confirm 2026 target and YTD actual.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2  Agree stage-exit evidence for four Q4 DWINs.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3  Assign DFAE support to top conversion plays.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4  Select a distributor plan or confirm direct-only coverage.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01 / 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2026 target vs current achievement: source inputs are incomplete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109728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Do not use open opportunity value as booked achievement or target attainment.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3493008" cy="14813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874519"/>
            <a:ext cx="312724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2026 ANNUAL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94560"/>
            <a:ext cx="3127248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1">
                <a:solidFill>
                  <a:srgbClr val="FF5A5F"/>
                </a:solidFill>
                <a:latin typeface="Aptos"/>
              </a:defRPr>
            </a:pPr>
            <a:r>
              <a:t>[ INPUT REQUIRED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88336"/>
            <a:ext cx="312724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Sales target is not in the source file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33672" y="1691640"/>
            <a:ext cx="3493008" cy="14813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6552" y="1874519"/>
            <a:ext cx="312724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YTD ACTUAL ACHIEVEMENT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552" y="2194560"/>
            <a:ext cx="3127248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1">
                <a:solidFill>
                  <a:srgbClr val="FF5A5F"/>
                </a:solidFill>
                <a:latin typeface="Aptos"/>
              </a:defRPr>
            </a:pPr>
            <a:r>
              <a:t>[ INPUT REQUIRED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2688336"/>
            <a:ext cx="312724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Bookings/revenue/DWIN actuals are not in the source file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4" y="1691640"/>
            <a:ext cx="3493008" cy="14813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47304" y="1874519"/>
            <a:ext cx="312724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GAP TO 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2194560"/>
            <a:ext cx="3127248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1">
                <a:solidFill>
                  <a:srgbClr val="FF9F1C"/>
                </a:solidFill>
                <a:latin typeface="Aptos"/>
              </a:defRPr>
            </a:pPr>
            <a:r>
              <a:t>[ CALCULATE AFTER INPUT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47304" y="2688336"/>
            <a:ext cx="312724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Target − YTD actual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493008"/>
            <a:ext cx="11109960" cy="224028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749039"/>
            <a:ext cx="106527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00B8A9"/>
                </a:solidFill>
                <a:latin typeface="Aptos"/>
              </a:defRPr>
            </a:pPr>
            <a:r>
              <a:t>AVAILABLE LEADING INDICATORS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87952"/>
            <a:ext cx="2240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Qualified open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480560"/>
            <a:ext cx="2240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F7FAFC"/>
                </a:solidFill>
                <a:latin typeface="Aptos"/>
              </a:defRPr>
            </a:pPr>
            <a:r>
              <a:t>12 / 8.22M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4187952"/>
            <a:ext cx="2240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Weighted pipeline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01568" y="4480560"/>
            <a:ext cx="2240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F7FAFC"/>
                </a:solidFill>
                <a:latin typeface="Aptos"/>
              </a:defRPr>
            </a:pPr>
            <a:r>
              <a:t>2.51M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53328" y="4187952"/>
            <a:ext cx="2240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2026 export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53328" y="4480560"/>
            <a:ext cx="2240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F7FAFC"/>
                </a:solidFill>
                <a:latin typeface="Aptos"/>
              </a:defRPr>
            </a:pPr>
            <a:r>
              <a:t>1 / 4.12M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05088" y="4187952"/>
            <a:ext cx="2240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2027 export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05088" y="4480560"/>
            <a:ext cx="2240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F7FAFC"/>
                </a:solidFill>
                <a:latin typeface="Aptos"/>
              </a:defRPr>
            </a:pPr>
            <a:r>
              <a:t>11 / 4.09M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5230368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F9F1C"/>
                </a:solidFill>
                <a:latin typeface="Aptos"/>
              </a:defRPr>
            </a:pPr>
            <a:r>
              <a:t>Bring to review: annual target, YTD revenue/bookings, achieved DWIN count/value, and definition of “achievement.”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02 / FUNNEL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Opportunity funnel: separate qualified open from 0% identification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99032"/>
            <a:ext cx="10515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Identify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139903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2 opps</a:t>
            </a:r>
          </a:p>
        </p:txBody>
      </p:sp>
      <p:sp>
        <p:nvSpPr>
          <p:cNvPr id="9" name="Rectangle 8"/>
          <p:cNvSpPr/>
          <p:nvPr/>
        </p:nvSpPr>
        <p:spPr>
          <a:xfrm>
            <a:off x="2148840" y="1325880"/>
            <a:ext cx="5806440" cy="43891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48840" y="1325880"/>
            <a:ext cx="3058236" cy="438912"/>
          </a:xfrm>
          <a:prstGeom prst="rect">
            <a:avLst/>
          </a:prstGeom>
          <a:solidFill>
            <a:srgbClr val="FF5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19872" y="1353312"/>
            <a:ext cx="1051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300" b="1">
                <a:solidFill>
                  <a:srgbClr val="F7FAFC"/>
                </a:solidFill>
                <a:latin typeface="Aptos"/>
              </a:defRPr>
            </a:pPr>
            <a:r>
              <a:t>3.60M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08592" y="1353312"/>
            <a:ext cx="138988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weighted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359152"/>
            <a:ext cx="10515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Define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4752" y="235915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8 opps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48840" y="2286000"/>
            <a:ext cx="5806440" cy="43891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48840" y="2286000"/>
            <a:ext cx="5806440" cy="438912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9872" y="2313432"/>
            <a:ext cx="1051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300" b="1">
                <a:solidFill>
                  <a:srgbClr val="F7FAFC"/>
                </a:solidFill>
                <a:latin typeface="Aptos"/>
              </a:defRPr>
            </a:pPr>
            <a:r>
              <a:t>6.84M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08592" y="2313432"/>
            <a:ext cx="138988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weighted 1.70M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319272"/>
            <a:ext cx="10515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Develop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44752" y="331927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1 opps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48840" y="3246120"/>
            <a:ext cx="5806440" cy="43891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48840" y="3246120"/>
            <a:ext cx="764559" cy="438912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3273551"/>
            <a:ext cx="1051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300" b="1">
                <a:solidFill>
                  <a:srgbClr val="F7FAFC"/>
                </a:solidFill>
                <a:latin typeface="Aptos"/>
              </a:defRPr>
            </a:pPr>
            <a:r>
              <a:t>900K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3273551"/>
            <a:ext cx="138988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weighted 450K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279392"/>
            <a:ext cx="10515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Design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" y="427939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3 opps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48840" y="4206240"/>
            <a:ext cx="5806440" cy="43891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48840" y="4206240"/>
            <a:ext cx="407764" cy="438912"/>
          </a:xfrm>
          <a:prstGeom prst="rect">
            <a:avLst/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233672"/>
            <a:ext cx="1051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300" b="1">
                <a:solidFill>
                  <a:srgbClr val="F7FAFC"/>
                </a:solidFill>
                <a:latin typeface="Aptos"/>
              </a:defRPr>
            </a:pPr>
            <a:r>
              <a:t>480K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8592" y="4233672"/>
            <a:ext cx="138988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weighted 360K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230368"/>
            <a:ext cx="11109960" cy="6858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431536"/>
            <a:ext cx="306324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Qualified top 3 = 71%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7639" y="5431536"/>
            <a:ext cx="3429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00B8A9"/>
                </a:solidFill>
                <a:latin typeface="Aptos"/>
              </a:defRPr>
            </a:pPr>
            <a:r>
              <a:t>Open exports = 8.22M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35240" y="5431536"/>
            <a:ext cx="352044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5A5F"/>
                </a:solidFill>
                <a:latin typeface="Aptos"/>
              </a:defRPr>
            </a:pPr>
            <a:r>
              <a:t>Identify outside exports = 3.60M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03 / CLOSURE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2026 DWIN-dated pipeline: convert five named plays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61872"/>
          <a:ext cx="1110996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212848"/>
                <a:gridCol w="694944"/>
                <a:gridCol w="566928"/>
                <a:gridCol w="941832"/>
                <a:gridCol w="704088"/>
                <a:gridCol w="4937760"/>
              </a:tblGrid>
              <a:tr h="5410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Customer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Opportunity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Stage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Prob.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DWIN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Peak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Proposed next gate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54102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Philips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XSC/CT Scanner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Design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 Sep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270K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DW evidence and production handoff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4102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Intelligent Sense _Response Solution_AI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21 Oct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4.12M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4102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SP-PDU CONTROL BOARD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 Nov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110K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4102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Honeywell Tech.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Industrial automation controller - Process manager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Design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30 Nov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DW evidence and production handoff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4102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Emerson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RX3i CEP002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16 Dec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775K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4773168"/>
            <a:ext cx="11109960" cy="1078992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4992624"/>
            <a:ext cx="24231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REVIEW COMMITMENT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4928616"/>
            <a:ext cx="836676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For each play: customer decision date • technical gap • required sample/tool/IP • named Sales + FAE + DFAE owners • evidence for the next stage.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04 / TOP OPPORTUNITIES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Top qualified opportunities 1–7: protect the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60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1143000"/>
                <a:gridCol w="2304288"/>
                <a:gridCol w="658368"/>
                <a:gridCol w="548640"/>
                <a:gridCol w="914400"/>
                <a:gridCol w="676656"/>
                <a:gridCol w="4544568"/>
              </a:tblGrid>
              <a:tr h="5623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#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Customer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Opportunity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Stage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Prob.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DWIN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Peak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Proposed next gate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Intelligent Sense _Response Solution_AI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21 Oct 2026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4.12M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Juniper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CFPGA_PCIe Gen1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Develop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50%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19 Feb 2027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900K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Close validation plan and design-freeze evidence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Long Range Tracking System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17 Mar 2027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825K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Emerson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RX3i CEP002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16 Dec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775K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Anesthesia Controller_X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28 May 2027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500K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CT Scanner_DCB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07 Jul 2027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400K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Philips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XSC/CT Scanner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Design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 Sep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270K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DW evidence and production handoff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879592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F9F1C"/>
                </a:solidFill>
                <a:latin typeface="Aptos"/>
              </a:defRPr>
            </a:pPr>
            <a:r>
              <a:t>Qualified ranks 1–3 contribute 71.2% of qualified open value; inspect weekly.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04 / TOP OPPORTUNITIES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Top 8–14: qualified open plus two Identify bets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60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1143000"/>
                <a:gridCol w="2304288"/>
                <a:gridCol w="658368"/>
                <a:gridCol w="548640"/>
                <a:gridCol w="914400"/>
                <a:gridCol w="676656"/>
                <a:gridCol w="4544568"/>
              </a:tblGrid>
              <a:tr h="49987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#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Customer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Opportunity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Stage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Prob.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DWIN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Peak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Proposed next gate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8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Honeywell Tech.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micro vapour cooling system - VCS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Design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01 Jun 2027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185K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DW evidence and production handoff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9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SP-PDU CONTROL BOARD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 Nov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110K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10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Honeywell Tech.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CMU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05 Dec 2027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90K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Honeywell Tech.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Industrial automation controller - Process manager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Design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30 Nov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DW evidence and production handoff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12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Philips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User interface hub for MRI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31 Jan 2027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10K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13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Honeywell Aerospace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Weather Monitoring Radar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Identify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0%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24 Nov 2027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3.00M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Qualify use case, sponsor, budget and 0→25% gate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14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Juniper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CPU Interface Card_PQC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Identify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0%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29 Dec 2027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600K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Qualify use case, sponsor, budget and 0→25% gate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</a:t>
                      </a:r>
                    </a:p>
                  </a:txBody>
                  <a:tcPr marL="54864" marR="36576" marT="22860" marB="18288">
                    <a:solidFill>
                      <a:srgbClr val="2B1D2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—</a:t>
                      </a:r>
                    </a:p>
                  </a:txBody>
                  <a:tcPr marL="54864" marR="36576" marT="22860" marB="18288">
                    <a:solidFill>
                      <a:srgbClr val="2B1D2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OPEN SLOT</a:t>
                      </a:r>
                    </a:p>
                  </a:txBody>
                  <a:tcPr marL="54864" marR="36576" marT="22860" marB="18288">
                    <a:solidFill>
                      <a:srgbClr val="2B1D2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—</a:t>
                      </a:r>
                    </a:p>
                  </a:txBody>
                  <a:tcPr marL="54864" marR="36576" marT="22860" marB="18288">
                    <a:solidFill>
                      <a:srgbClr val="2B1D2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—</a:t>
                      </a:r>
                    </a:p>
                  </a:txBody>
                  <a:tcPr marL="54864" marR="36576" marT="22860" marB="18288">
                    <a:solidFill>
                      <a:srgbClr val="2B1D2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—</a:t>
                      </a:r>
                    </a:p>
                  </a:txBody>
                  <a:tcPr marL="54864" marR="36576" marT="22860" marB="18288">
                    <a:solidFill>
                      <a:srgbClr val="2B1D2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—</a:t>
                      </a:r>
                    </a:p>
                  </a:txBody>
                  <a:tcPr marL="54864" marR="36576" marT="22860" marB="18288">
                    <a:solidFill>
                      <a:srgbClr val="2B1D2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Add a qualified 2027 demand-creation play</a:t>
                      </a:r>
                    </a:p>
                  </a:txBody>
                  <a:tcPr marL="54864" marR="36576" marT="22860" marB="18288">
                    <a:solidFill>
                      <a:srgbClr val="2B1D2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879592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F9F1C"/>
                </a:solidFill>
                <a:latin typeface="Aptos"/>
              </a:defRPr>
            </a:pPr>
            <a:r>
              <a:t>Ranks 13–14 are 0% Identify plays outside both open exports; slot 15 remains a new qualified creation commitment.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05 / ACCOUNTS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Qualified customer portfolio: Outdu is 60% of open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07592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Outdu</a:t>
            </a:r>
          </a:p>
        </p:txBody>
      </p:sp>
      <p:sp>
        <p:nvSpPr>
          <p:cNvPr id="8" name="Rectangle 7"/>
          <p:cNvSpPr/>
          <p:nvPr/>
        </p:nvSpPr>
        <p:spPr>
          <a:xfrm>
            <a:off x="2148840" y="1280160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148840" y="1280160"/>
            <a:ext cx="4800600" cy="310896"/>
          </a:xfrm>
          <a:prstGeom prst="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14032" y="1271016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4.95M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1271016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1.24M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98864" y="1271016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2 opps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938527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GE HealthCare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48840" y="1911095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48840" y="1911095"/>
            <a:ext cx="979560" cy="310896"/>
          </a:xfrm>
          <a:prstGeom prst="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14032" y="1901952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1.01M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1901952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242K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8864" y="1901952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3 opps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569463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Juniper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48840" y="2542032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48840" y="2542032"/>
            <a:ext cx="872836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14032" y="2532888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900K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0144" y="2532888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450K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8864" y="2532888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1 opps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200399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Emerson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48840" y="3172968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48840" y="3172968"/>
            <a:ext cx="751609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14032" y="3163824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775K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4" y="3163824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194K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8864" y="3163824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1 opps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831336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Honeywell Tech.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148840" y="3803904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148840" y="3803904"/>
            <a:ext cx="290945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14032" y="379476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300K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0144" y="3794760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180K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98864" y="379476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3 opps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4462272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Philips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148840" y="4434840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48840" y="4434840"/>
            <a:ext cx="271549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14032" y="4425696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280K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10144" y="4425696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205K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98864" y="4425696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2 opps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5870448"/>
            <a:ext cx="11109960" cy="38404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3232" y="5943600"/>
            <a:ext cx="106527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F9F1C"/>
                </a:solidFill>
                <a:latin typeface="Aptos"/>
              </a:defRPr>
            </a:pPr>
            <a:r>
              <a:t>Coverage check: 12/12 qualified open opportunities are direct; distributor account is blank in both uploaded Sahil exports.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05 / ACCOUNTS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Q4 2026 / 2027 account plans: convert now, then expand adjacencies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58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8992"/>
                <a:gridCol w="2084831"/>
                <a:gridCol w="3749039"/>
                <a:gridCol w="4197096"/>
              </a:tblGrid>
              <a:tr h="646611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Account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Current plays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Q4 2026 proposed focus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2027 proposed expansion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646611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AI response + tracking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Close 21 Oct architecture, BOM and evaluation gate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Replicate video/vision pipeline across tracking + analytics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46611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Honeywell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Radar + industrial/aerospace control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Qualify 3.00M radar; close two Design-stage evidence packs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Create radar/thermal-control solution campaign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646611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Juniper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PCIe FPGA + PQC interface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Move CFPGA through validation; qualify PQC from 0%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Position Agilex 3 for security/control-plane refresh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46611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CT, anesthesia, power control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Recover 2026 SP-PDU gate; define CT/anesthesia evaluations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Medical imaging + controller platform expansion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646611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Emerson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RX3i controller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dual-device architecture before 16 Dec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Industrial automation controller modernization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46614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Philips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CT + MRI UI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CT design evidence; define MRI UI success criteria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Imaging workflow and low-power control adjacency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879592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0">
                <a:solidFill>
                  <a:srgbClr val="A8B2C7"/>
                </a:solidFill>
                <a:latin typeface="Aptos"/>
              </a:defRPr>
            </a:pPr>
            <a:r>
              <a:t>These are proposed actions inferred from stage/date/product data; validate customer commitments and support history in the review.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06 / 2027 CREATION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FY2027 demand creation: three repeatable motions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98448"/>
            <a:ext cx="3493008" cy="43434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572768"/>
            <a:ext cx="309067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ROBOTICS +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1488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395728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Industrial OEMs; Emerson + Honeywell adjacencies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163824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OFFER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410712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Deterministic control, functional partitioning, secure connectivity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2062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CREATE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453128"/>
            <a:ext cx="3090672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Controller architecture workshop + 3 qualified use cases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59" y="1298448"/>
            <a:ext cx="3493008" cy="43434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1572768"/>
            <a:ext cx="309067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00B8A9"/>
                </a:solidFill>
                <a:latin typeface="Aptos"/>
              </a:defRPr>
            </a:pPr>
            <a:r>
              <a:t>VIDEO + VISION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7" y="21488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7" y="2395728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Outdu, medical imaging and smart sensing teams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3127" y="3163824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OFFER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3127" y="3410712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Edge AI/video pipeline on Agilex 5 D / Agilex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7" y="42062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CREATE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3127" y="4453128"/>
            <a:ext cx="3090672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Vision benchmark day + reference design + 3 evaluations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298448"/>
            <a:ext cx="3493008" cy="43434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8" y="1572768"/>
            <a:ext cx="309067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3A86FF"/>
                </a:solidFill>
                <a:latin typeface="Aptos"/>
              </a:defRPr>
            </a:pPr>
            <a:r>
              <a:t>INDUSTRIAL PLATFORM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21488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2168" y="2395728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Automation, medical controls and network infrastructure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3163824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OFFER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2168" y="3410712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PCIe/Ethernet modernization and legacy FPGA migration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2168" y="42062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CREATE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4453128"/>
            <a:ext cx="3090672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Portfolio migration clinic + joint Sales/FAE account map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852160"/>
            <a:ext cx="10881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F9F1C"/>
                </a:solidFill>
                <a:latin typeface="Aptos"/>
              </a:defRPr>
            </a:pPr>
            <a:r>
              <a:t>Review decision: choose numeric 2027 creation targets after the 2027 sales objective is confirmed.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07 / READINESS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Critical-review verdict: strong analysis, incomplete execution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2834640" cy="4553712"/>
          </a:xfrm>
          <a:prstGeom prst="roundRect">
            <a:avLst/>
          </a:prstGeom>
          <a:solidFill>
            <a:srgbClr val="2B1D2F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554480"/>
            <a:ext cx="230428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5A5F"/>
                </a:solidFill>
                <a:latin typeface="Aptos"/>
              </a:defRPr>
            </a:pPr>
            <a:r>
              <a:t>CURRENT VERDICT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993392"/>
            <a:ext cx="2304288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NOT YET</a:t>
            </a:r>
            <a:br/>
            <a:r>
              <a:t>READY TO 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090672"/>
            <a:ext cx="2304288" cy="1572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DDE6F3"/>
                </a:solidFill>
                <a:latin typeface="Aptos"/>
              </a:defRPr>
            </a:pPr>
            <a:r>
              <a:t>The market case and opportunity analysis are strong. The team, demos, distributor ownership and conversion system are not yet committed.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047488"/>
            <a:ext cx="230428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Fix the operating model before launching campaigns.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584448" y="1234440"/>
          <a:ext cx="8028432" cy="4553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208"/>
                <a:gridCol w="822960"/>
                <a:gridCol w="5541264"/>
              </a:tblGrid>
              <a:tr h="65053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Readiness gate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Status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Evidence / gap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650530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Pipeline facts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GREEN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12 qualified open opportunities + 2 unqualified Identify plays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</a:tr>
              <a:tr h="650530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Market + competition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GREEN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Three sourced segments and an honest AMD battlecard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</a:tr>
              <a:tr h="650530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Solution portfolio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Solutions exist; access, kit, maturity and demo owners need verification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</a:tr>
              <a:tr h="650530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Distributor team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RED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No Arrow or Macnica specialist is named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</a:tr>
              <a:tr h="650530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Channel pipeline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RED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0/12 qualified open opportunities linked to a distributor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</a:tr>
              <a:tr h="650532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Execution scorecard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Proposed metrics exist; leadership and distis have not committed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39312" y="5916168"/>
            <a:ext cx="7863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80" b="1">
                <a:solidFill>
                  <a:srgbClr val="FF9F1C"/>
                </a:solidFill>
                <a:latin typeface="Aptos"/>
              </a:defRPr>
            </a:pPr>
            <a:r>
              <a:t>Review decision: approve the joint Altera–Arrow–Macnica tiger team, owners, readiness dates and Q4 scorecard.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08 / SOLUTION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Altera solution arsenal: lead with demonstrable systems, not device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554480"/>
            <a:ext cx="309067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F9F1C"/>
                </a:solidFill>
                <a:latin typeface="Aptos"/>
              </a:defRPr>
            </a:pPr>
            <a:r>
              <a:t>ROBOTICS +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0299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0208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ROS Consolidated Robot Controller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57860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56946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Drive-on-Chip motor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12724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311810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Drive-on-Chip with PLC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675887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66674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HPS TSN 3×2.5G SGMII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422452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421538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Sensor Fusion Platform for AMRs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731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" y="47640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Functional-safety flow / FSDP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5422392"/>
            <a:ext cx="30632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VERIFY: access • kit • owner • benchmark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59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53127" y="1554480"/>
            <a:ext cx="309067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B8A9"/>
                </a:solidFill>
                <a:latin typeface="Aptos"/>
              </a:defRPr>
            </a:pPr>
            <a:r>
              <a:t>CAMERA + EDGE 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3127" y="20299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18303" y="20208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Holoscan Sensor Bridge: MIPI→10GbE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3127" y="257860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18303" y="256946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4Kp60 Multi-Sensor HDR Camera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7" y="312724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18303" y="311810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4Kp30 Multi-Sensor Camera +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127" y="3675887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18303" y="366674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Smart Camera Demo Kit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53127" y="422452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18303" y="421538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45+ Video &amp; Vision Processing IPs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53127" y="47731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18303" y="47640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FPGA AI Suite + MIPI CSI-2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53127" y="5422392"/>
            <a:ext cx="30632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VERIFY: access • kit • owner • benchmark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0100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02168" y="1554480"/>
            <a:ext cx="309067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3A86FF"/>
                </a:solidFill>
                <a:latin typeface="Aptos"/>
              </a:defRPr>
            </a:pPr>
            <a:r>
              <a:t>PARTNER PLATFORMS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02168" y="20299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67344" y="20208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Arrow Eagle Board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02168" y="257860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67344" y="256946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Macnica Sulphur Agilex 5 kit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02168" y="312724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67344" y="311810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Macnica MEP100 ST2110 SmartNIC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02168" y="3675887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67344" y="366674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Agilex 5 Modular / Premium kits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02168" y="422452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67344" y="421538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Critical Link vision modules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02168" y="47731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67344" y="47640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IntoPIX JPEG-XS ecosystem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02168" y="5422392"/>
            <a:ext cx="30632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VERIFY: access • kit • owner • benchmark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[R4], [R7], [R8], [R19], [R20]. Holoscan is NVIDIA technology integrated by Altera reference designs; solution access/maturity must be checked.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08 / SOLUTION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Solution readiness: every offer needs an owner, running kit and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07008"/>
          <a:ext cx="11109960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2057400"/>
                <a:gridCol w="1993392"/>
                <a:gridCol w="4983480"/>
                <a:gridCol w="594360"/>
              </a:tblGrid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Solution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Minimum owner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Platform / kit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Proof required before customer campaign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Ready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ROS robot controller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Sahil + Robotics DFAE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5 SoC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Sensor→actuator jitter + ROS 2 integration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Holoscan bridge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Camera/AI DFAE + Macnica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A5 Premium + MIPI + 10GbE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4K stream into NVIDIA Holoscan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4Kp60 HDR camera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Sahil + Macnica expert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A5 Modular + camera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ISP image quality, latency and power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4Kp30 camera + AI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AI DFAE + Arrow expert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A5 kit + customer model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Ingest→inference→display benchmark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Drive-on-Chip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Control DFAE + Arrow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A5 Modular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Motor-loop latency and integration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3×2.5G TSN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Industrial DFAE + Sahil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5 SoC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Multi-node sync, jitter and topology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Sensor fusion / AMR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Robotics expert + Macnica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A5 + sensor set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Time-aligned multi-sensor pipeline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Smart camera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Critical Link + joint team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Partner kit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Customer model + production BOM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Readiness means the team can run the demo, explain limitations, reproduce results and support an evaluation. A web page alone is not readiness.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09 / JOINT GTM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This is not a one-person job: form one market-penetration tiger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527048"/>
            <a:ext cx="1645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1">
                <a:solidFill>
                  <a:srgbClr val="00B8A9"/>
                </a:solidFill>
                <a:latin typeface="Aptos"/>
              </a:defRPr>
            </a:pPr>
            <a:r>
              <a:t>ALTERA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78024" y="1545336"/>
            <a:ext cx="12527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750" b="1">
                <a:solidFill>
                  <a:srgbClr val="00B8A9"/>
                </a:solidFill>
                <a:latin typeface="Aptos"/>
              </a:defRPr>
            </a:pPr>
            <a:r>
              <a:t>NAMED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938528"/>
            <a:ext cx="309067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Sahil — program + solution 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697480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688336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Own segment strategy and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282696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3273552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Coordinate Robotics, AI/Vision, TSN/FuSa DFAEs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867912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858768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Define benchmark method and technical red lines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4453128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4443984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Escalate product/IP/roadmap gaps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1959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7" y="1527048"/>
            <a:ext cx="1645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1">
                <a:solidFill>
                  <a:srgbClr val="FF9F1C"/>
                </a:solidFill>
                <a:latin typeface="Aptos"/>
              </a:defRPr>
            </a:pPr>
            <a:r>
              <a:t>ARROW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7064" y="1545336"/>
            <a:ext cx="12527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750" b="1">
                <a:solidFill>
                  <a:srgbClr val="FF9F1C"/>
                </a:solidFill>
                <a:latin typeface="Aptos"/>
              </a:defRPr>
            </a:pPr>
            <a:r>
              <a:t>DUE 05 AUG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3127" y="1938528"/>
            <a:ext cx="309067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[Name required] — joint specialist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3127" y="2697480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18303" y="2688336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Robotics/AI/camera technical coverage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3127" y="3282696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18303" y="3273552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Own Arrow account map and opportunity follow-up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53127" y="3867912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3" y="3858768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Maintain Eagle/A5 kits, samples and logistics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7" y="4453128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18303" y="4443984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Run workshops and CRM hygiene with Sales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0100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02168" y="1527048"/>
            <a:ext cx="1645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1">
                <a:solidFill>
                  <a:srgbClr val="3A86FF"/>
                </a:solidFill>
                <a:latin typeface="Aptos"/>
              </a:defRPr>
            </a:pPr>
            <a:r>
              <a:t>MACNICA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76104" y="1545336"/>
            <a:ext cx="12527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750" b="1">
                <a:solidFill>
                  <a:srgbClr val="3A86FF"/>
                </a:solidFill>
                <a:latin typeface="Aptos"/>
              </a:defRPr>
            </a:pPr>
            <a:r>
              <a:t>DUE 05 AUG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02168" y="1938528"/>
            <a:ext cx="309067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[Name required] — joint specialist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02168" y="2697480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67344" y="2688336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Robotics/AI/camera technical coverage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02168" y="3282696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67344" y="3273552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Own Macnica account map and opportunity follow-up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02168" y="3867912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67344" y="3858768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Bring Sulphur, MEP100 and video ecosystem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02168" y="4453128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67344" y="4443984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Run evaluations and close integration gaps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" y="5888736"/>
            <a:ext cx="108813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FF9F1C"/>
                </a:solidFill>
                <a:latin typeface="Aptos"/>
              </a:defRPr>
            </a:pPr>
            <a:r>
              <a:t>Minimum formation rule: one named robotics/AI/camera-capable specialist from each organization, backed by Altera specialist DFAEs.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09 / JOINT GTM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Joint market penetration: ready → target → prove → convert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1371600" cy="676656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344168"/>
            <a:ext cx="1024128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A8B2C7"/>
                </a:solidFill>
                <a:latin typeface="Aptos"/>
              </a:defRPr>
            </a:pPr>
            <a:r>
              <a:t>BY 05 AUG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241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5A5F"/>
                </a:solidFill>
                <a:latin typeface="Aptos"/>
              </a:defRPr>
            </a:pPr>
            <a:r>
              <a:t>FORM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57400" y="1234440"/>
            <a:ext cx="9555480" cy="676656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1720" y="1362456"/>
            <a:ext cx="900684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40" b="1">
                <a:solidFill>
                  <a:srgbClr val="F7FAFC"/>
                </a:solidFill>
                <a:latin typeface="Aptos"/>
              </a:defRPr>
            </a:pPr>
            <a:r>
              <a:t>Name Arrow + Macnica specialists; approve charter, segment roles and weekly cadence.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30552"/>
            <a:ext cx="1371600" cy="676656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240280"/>
            <a:ext cx="1024128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A8B2C7"/>
                </a:solidFill>
                <a:latin typeface="Aptos"/>
              </a:defRPr>
            </a:pPr>
            <a:r>
              <a:t>BY 14 AUG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2468880"/>
            <a:ext cx="10241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READY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57400" y="2130552"/>
            <a:ext cx="9555480" cy="676656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2258568"/>
            <a:ext cx="900684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40" b="1">
                <a:solidFill>
                  <a:srgbClr val="F7FAFC"/>
                </a:solidFill>
                <a:latin typeface="Aptos"/>
              </a:defRPr>
            </a:pPr>
            <a:r>
              <a:t>Run internal enablement; verify solution access; establish ≥1 working robotics and ≥1 camera/AI demo path.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026664"/>
            <a:ext cx="1371600" cy="676656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3136392"/>
            <a:ext cx="1024128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A8B2C7"/>
                </a:solidFill>
                <a:latin typeface="Aptos"/>
              </a:defRPr>
            </a:pPr>
            <a:r>
              <a:t>BY 31 AUG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3364992"/>
            <a:ext cx="10241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A86FF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57400" y="3026664"/>
            <a:ext cx="9555480" cy="676656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31720" y="3154680"/>
            <a:ext cx="900684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40" b="1">
                <a:solidFill>
                  <a:srgbClr val="F7FAFC"/>
                </a:solidFill>
                <a:latin typeface="Aptos"/>
              </a:defRPr>
            </a:pPr>
            <a:r>
              <a:t>Build 30-account map: 15 Arrow + 15 Macnica; rank pains, installed competition and sponsor.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922776"/>
            <a:ext cx="1371600" cy="676656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4032504"/>
            <a:ext cx="1024128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A8B2C7"/>
                </a:solidFill>
                <a:latin typeface="Aptos"/>
              </a:defRPr>
            </a:pPr>
            <a:r>
              <a:t>SEP–OCT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" y="4261104"/>
            <a:ext cx="10241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00B8A9"/>
                </a:solidFill>
                <a:latin typeface="Aptos"/>
              </a:defRPr>
            </a:pPr>
            <a:r>
              <a:t>ENGAGE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7400" y="3922776"/>
            <a:ext cx="9555480" cy="676656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31720" y="4050791"/>
            <a:ext cx="900684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40" b="1">
                <a:solidFill>
                  <a:srgbClr val="F7FAFC"/>
                </a:solidFill>
                <a:latin typeface="Aptos"/>
              </a:defRPr>
            </a:pPr>
            <a:r>
              <a:t>12 customer workshops; 8 benchmark/evaluation starts; joint Sales–FAE–disti follow-up in 48 hours.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18888"/>
            <a:ext cx="1371600" cy="676656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4928616"/>
            <a:ext cx="1024128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A8B2C7"/>
                </a:solidFill>
                <a:latin typeface="Aptos"/>
              </a:defRPr>
            </a:pPr>
            <a:r>
              <a:t>Q4 CLOSE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" y="5157216"/>
            <a:ext cx="10241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DDC97"/>
                </a:solidFill>
                <a:latin typeface="Aptos"/>
              </a:defRPr>
            </a:pPr>
            <a:r>
              <a:t>CONVERT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57400" y="4818888"/>
            <a:ext cx="9555480" cy="676656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31720" y="4946903"/>
            <a:ext cx="900684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40" b="1">
                <a:solidFill>
                  <a:srgbClr val="F7FAFC"/>
                </a:solidFill>
                <a:latin typeface="Aptos"/>
              </a:defRPr>
            </a:pPr>
            <a:r>
              <a:t>Proposed target: 6 qualified opportunities, 3 Develop/Design-stage plays and 2 DWINs.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806440"/>
            <a:ext cx="11109960" cy="347472"/>
          </a:xfrm>
          <a:prstGeom prst="roundRect">
            <a:avLst/>
          </a:prstGeom>
          <a:solidFill>
            <a:srgbClr val="2B1D2F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5870448"/>
            <a:ext cx="1062532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80" b="1">
                <a:solidFill>
                  <a:srgbClr val="FF9F1C"/>
                </a:solidFill>
                <a:latin typeface="Aptos"/>
              </a:defRPr>
            </a:pPr>
            <a:r>
              <a:t>These are proposed critical-review commitments—not achieved results. Leadership, Arrow and Macnica must accept or reset them in the meeting.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10 / MARKET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Market review: growth is real, but proof-of-value wins budgets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536192"/>
            <a:ext cx="3090672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ROBOTICS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947672"/>
            <a:ext cx="3090672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900" b="1">
                <a:solidFill>
                  <a:srgbClr val="F7FAFC"/>
                </a:solidFill>
                <a:latin typeface="Aptos"/>
              </a:defRPr>
            </a:pPr>
            <a:r>
              <a:t>9,100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487168"/>
            <a:ext cx="3090672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DDE6F3"/>
                </a:solidFill>
                <a:latin typeface="Aptos"/>
              </a:defRPr>
            </a:pPr>
            <a:r>
              <a:t>robots installed in India in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108960"/>
            <a:ext cx="309067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0">
                <a:solidFill>
                  <a:srgbClr val="A8B2C7"/>
                </a:solidFill>
                <a:latin typeface="Aptos"/>
              </a:defRPr>
            </a:pPr>
            <a:r>
              <a:t>+7% YoY • India ranked #6 • automotive = 45% of installs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950208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COMMERCIAL IMPLICATION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261104"/>
            <a:ext cx="3090672" cy="1051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Prioritize automotive suppliers, machine builders and control platforms; sell deterministic integration, not an FPGA.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59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7" y="1536192"/>
            <a:ext cx="3090672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00B8A9"/>
                </a:solidFill>
                <a:latin typeface="Aptos"/>
              </a:defRPr>
            </a:pPr>
            <a:r>
              <a:t>VIDEO + VISION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7" y="1947672"/>
            <a:ext cx="3090672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900" b="1">
                <a:solidFill>
                  <a:srgbClr val="F7FAFC"/>
                </a:solidFill>
                <a:latin typeface="Aptos"/>
              </a:defRPr>
            </a:pPr>
            <a:r>
              <a:t>$5.7B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7" y="2487168"/>
            <a:ext cx="3090672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DDE6F3"/>
                </a:solidFill>
                <a:latin typeface="Aptos"/>
              </a:defRPr>
            </a:pPr>
            <a:r>
              <a:t>2025 global machine-vision forecast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7" y="3108960"/>
            <a:ext cx="309067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0">
                <a:solidFill>
                  <a:srgbClr val="A8B2C7"/>
                </a:solidFill>
                <a:latin typeface="Aptos"/>
              </a:defRPr>
            </a:pPr>
            <a:r>
              <a:t>+1.5% after a 3.9% decline in 2024 • price pressure remains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3127" y="3950208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COMMERCIAL IMPLICATION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3127" y="4261104"/>
            <a:ext cx="3090672" cy="1051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Lead with workload benchmarks, integration time and sensor flexibility; generic camera growth is not enough.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02168" y="1536192"/>
            <a:ext cx="3090672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A86FF"/>
                </a:solidFill>
                <a:latin typeface="Aptos"/>
              </a:defRPr>
            </a:pPr>
            <a:r>
              <a:t>INDUSTRIAL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2168" y="1947672"/>
            <a:ext cx="3090672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900" b="1">
                <a:solidFill>
                  <a:srgbClr val="F7FAFC"/>
                </a:solidFill>
                <a:latin typeface="Aptos"/>
              </a:defRPr>
            </a:pPr>
            <a:r>
              <a:t>94%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2168" y="2487168"/>
            <a:ext cx="3090672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DDE6F3"/>
                </a:solidFill>
                <a:latin typeface="Aptos"/>
              </a:defRPr>
            </a:pPr>
            <a:r>
              <a:t>of APAC manufacturers investing/planning 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3108960"/>
            <a:ext cx="309067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0">
                <a:solidFill>
                  <a:srgbClr val="A8B2C7"/>
                </a:solidFill>
                <a:latin typeface="Aptos"/>
              </a:defRPr>
            </a:pPr>
            <a:r>
              <a:t>quality control 47% • process optimization 43% • cyber is critical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2168" y="3950208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COMMERCIAL IMPLICATION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4261104"/>
            <a:ext cx="3090672" cy="1051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Package edge AI with control, networking, safety and security around a measurable factory KPI.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[R1] IFR World Robotics 2025  •  [R3] Interact Analysis, Jun 2025  •  [R2] Rockwell APAC Smart Manufacturing 2025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10 / MARKET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Robotics: India is scaling; own the deterministic control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657600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MARKET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938528"/>
            <a:ext cx="3246120" cy="331012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F7FAFC"/>
                </a:solidFill>
                <a:latin typeface="Aptos"/>
              </a:defRPr>
            </a:pPr>
            <a:r>
              <a:t>542K global robot installs in 2024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4.664M operational stock; +9% YoY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India: 9.1K installs, +7%, #6 globally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45% of India installs were automotive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IFR forecasts 575K global installs in 2025 and &gt;700K by 2028.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261872"/>
            <a:ext cx="3456432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554480"/>
            <a:ext cx="299923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COMPETITIVE BATTLEFIELD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1938528"/>
            <a:ext cx="3017520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F9F1C"/>
                </a:solidFill>
                <a:latin typeface="Aptos"/>
              </a:defRPr>
            </a:pPr>
            <a:r>
              <a:t>AMD Xilinx strength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Kria KR260: production SOM path, native ROS 2 and Kria Robotics Stack.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Altera proof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ROS 2 controller, Drive-on-Chip, safety, sensor fusion and 3×2.5G TSN reference designs.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Win condition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Demonstrate lower end-to-end jitter and fewer devices for the customer's exact control loop.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261872"/>
            <a:ext cx="358444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1554480"/>
            <a:ext cx="31272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3A86FF"/>
                </a:solidFill>
                <a:latin typeface="Aptos"/>
              </a:defRPr>
            </a:pPr>
            <a:r>
              <a:t>PROPOSED 2027 MOTION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38528"/>
            <a:ext cx="3154680" cy="34564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Target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Robot OEMs, AMR makers, automotive suppliers and control-system integrators.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Offer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Sense→think→act workshop using Agilex 5 SoC, TSN and functional-safety architecture.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Proposed scorecard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12 named accounts • 6 workshops • 3 evaluations • 2 qualified opportunities • 1 DWIN.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[R1] IFR World Robotics 2025  •  [R4] Altera Robotics Stack  •  [R5] Agilex 5  •  [R6] AMD Kria KR260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10 / MARKET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Video + vision: recovery is selective; benchmark the whole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657600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MARKET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938528"/>
            <a:ext cx="3246120" cy="3337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F7FAFC"/>
                </a:solidFill>
                <a:latin typeface="Aptos"/>
              </a:defRPr>
            </a:pPr>
            <a:r>
              <a:t>2024 global market: −3.9%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Inventory correction and manufacturing softness</a:t>
            </a:r>
          </a:p>
          <a:p>
            <a:pPr>
              <a:spcAft>
                <a:spcPts val="500"/>
              </a:spcAft>
              <a:defRPr sz="1600" b="1">
                <a:solidFill>
                  <a:srgbClr val="F7FAFC"/>
                </a:solidFill>
                <a:latin typeface="Aptos"/>
              </a:defRPr>
            </a:pPr>
            <a:r>
              <a:t>2025 forecast: +1.5% to $5.7B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2028 forecast: $7B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Area-scan cameras fell 7.8%; APAC vendor price pressure makes undifferentiated hardware vulnerable.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261872"/>
            <a:ext cx="3456432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554480"/>
            <a:ext cx="299923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COMPETITIVE BATTLEFIELD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1938528"/>
            <a:ext cx="3017520" cy="34015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F9F1C"/>
                </a:solidFill>
                <a:latin typeface="Aptos"/>
              </a:defRPr>
            </a:pPr>
            <a:r>
              <a:t>AMD Xilinx strength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KV260 quick start, multi-camera interfaces, Vitis Vision/AI and Versal AI Engine scale.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Altera proof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45+ VVP IP cores, &gt;600 MHz claimed Fmax, 8K60+ optimization and FPGA AI Suite.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Win condition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Customer-model benchmark: ingest + ISP + inference + output latency, power and engineering weeks.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261872"/>
            <a:ext cx="358444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1554480"/>
            <a:ext cx="31272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3A86FF"/>
                </a:solidFill>
                <a:latin typeface="Aptos"/>
              </a:defRPr>
            </a:pPr>
            <a:r>
              <a:t>PROPOSED 2027 MOTION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38528"/>
            <a:ext cx="3154680" cy="34564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Named beachheads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Outdu tracking/analytics; GE + Philips medical imaging; industrial inspection.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Offer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Bring-your-model vision benchmark day with two sensor interfaces and a production BOM.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Proposed scorecard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8 accounts • 4 benchmarks • 3 evaluations • 2 qualified opportunities • 1 DWIN.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[R3] Interact Analysis  •  [R7] Altera VVP Suite  •  [R8] FPGA AI Suite  •  [R9] AMD KV260  •  [R10] Versal AI Edge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10 / MARKET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Industrial: AI spending converges with control, safety and cyber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657600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3A86FF"/>
                </a:solidFill>
                <a:latin typeface="Aptos"/>
              </a:defRPr>
            </a:pPr>
            <a:r>
              <a:t>MARKET EVIDENCE — APAC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938528"/>
            <a:ext cx="3246120" cy="3337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F7FAFC"/>
                </a:solidFill>
                <a:latin typeface="Aptos"/>
              </a:defRPr>
            </a:pPr>
            <a:r>
              <a:t>94% investing / planning AI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47%: quality control is top AI use case</a:t>
            </a:r>
          </a:p>
          <a:p>
            <a:pPr>
              <a:spcAft>
                <a:spcPts val="500"/>
              </a:spcAft>
              <a:defRPr sz="1600" b="1">
                <a:solidFill>
                  <a:srgbClr val="F7FAFC"/>
                </a:solidFill>
                <a:latin typeface="Aptos"/>
              </a:defRPr>
            </a:pPr>
            <a:r>
              <a:t>43%: process optimization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95%: cyber standards important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The buying unit spans OT control, data, safety and security—not a single component owner.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261872"/>
            <a:ext cx="3456432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554480"/>
            <a:ext cx="299923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COMPETITIVE BATTLEFIELD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1938528"/>
            <a:ext cx="3017520" cy="34015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F9F1C"/>
                </a:solidFill>
                <a:latin typeface="Aptos"/>
              </a:defRPr>
            </a:pPr>
            <a:r>
              <a:t>Shared table stakes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AMD and Altera both offer TSN, industrial connectivity and certified safety flows.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Altera proof point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Agilex 5 SoC integrates three hardened 2.5G TSN MACs; Drive-on-Chip and FSDP support.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Win condition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Quantify BOM consolidation, deterministic cycle time and certification work saved.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261872"/>
            <a:ext cx="358444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1554480"/>
            <a:ext cx="31272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PROPOSED 2027 MOTION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38528"/>
            <a:ext cx="3154680" cy="34564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Named beachheads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Emerson controller; Honeywell automation; machine builders via Arrow/Macnica.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Offer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Industrial platform clinic: TSN + PLC/control + safety + secure lifecycle.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Proposed scorecard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15 accounts • 6 clinics • 4 evaluations • 3 qualified opportunities • 1 DWIN.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[R2] Rockwell APAC 2025  •  [R11–R15] Altera/AMD industrial networking and functional-safety sources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11 /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Competitive portfolio map: no single one-for-one device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6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017520"/>
                <a:gridCol w="3017520"/>
                <a:gridCol w="3840480"/>
              </a:tblGrid>
              <a:tr h="905256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Battlefield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Altera position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AMD Xilinx position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FAE comparison rule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905256"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Cost / I/O edge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3 C: FPGA + optional dual A55 SoC, AI tensor DSP, MIPI, 12.5G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Spartan UltraScale+: high I/O, 16.3G, PCIe Gen4, hardened LPDDR; no processor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Compare package, I/O mix, BOM, power and required processor—not density labels.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905256"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Midrange embedded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5 E: A76/A55 SoC options, 3×2.5G TSN, AI tensor blocks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Zynq UltraScale+ MPSoC / Kria K26: mature SOM and software ecosystem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Altera: consolidation + hard TSN. AMD: fast SOM/ROS path. Prove development effort.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905256"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AI / vision scale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5 D/E + FPGA AI Suite + VVP; custom streaming data path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Versal AI Edge + AI Engines; Kria KV260 for fast vision evaluation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TOPS are not directly comparable. Benchmark the customer's model and full pipeline.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905256"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High-end adaptable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7/9 families for high bandwidth, RF and complex acceleration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Versal Premium / AI Core / RF families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Treat as architecture-led pursuits; involve product-line DFAEs before device claims.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879592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F9F1C"/>
                </a:solidFill>
                <a:latin typeface="Aptos"/>
              </a:defRPr>
            </a:pPr>
            <a:r>
              <a:t>Never compare LE vs logic-cell counts or headline TOPS as equivalent metrics; normalize the workload, precision, sparsity, clocks, power and tool version.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[R5], [R8], [R10], [R16], [R17] — official vendor product pages; claims remain vendor-stated until customer benchmark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11 /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Altera vs AMD Xilinx: evidence-based battlecard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07008"/>
          <a:ext cx="1110996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816352"/>
                <a:gridCol w="2816352"/>
                <a:gridCol w="4471416"/>
              </a:tblGrid>
              <a:tr h="679268"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Criterion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Altera evidence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AMD Xilinx evidence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Implication / honest position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Robotics SW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ROS 2 controller + Drive-on-Chip reference stack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KR260 + native ROS 2 + KRS + production K26 SOM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AMD advantage for software-first/SOM buyers; counter with deterministic consolidation proof.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Vision IP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45+ VVP cores; FPGA AI Suite; custom streaming fabric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Vitis Vision/AI; KV260; Versal AI Engines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Both credible. Win on measured end-to-end latency, power and engineering effort.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AI scale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3/5/7 portfolio; vendor claims up to 152.6 INT8 TOPS on A5 D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Versal AI Edge vendor table: 5–202 dense INT8 TOPS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Do not rank by TOPS alone; architectures, devices and assumptions differ.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Industrial TSN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5 SoC: three hardened 2.5G TSN MACs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100M/1G TSN LogiCORE; broader industrial protocol ecosystem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Lead with integration/BOM if hard TSN fits; validate exact protocol and topology.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Functional safety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TÜV-reviewed FSDP/methodology; stated suitability up to SIL3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TÜV SÜD-certified flows; IEC 61508 / ISO 13849 support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Table stakes for both. Compare exact device/tool/IP certificate scope.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79272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Cost / I/O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3: SoC option, MIPI, AI tensor DSP, 12.5G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Spartan UltraScale+: up to 572 I/O, 16.3G, PCIe Gen4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Use customer pinout + board-cost study. Neither wins every configuration.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[R4–R18] Official vendor sources. “Advantage” statements are sales assessments, not third-party benchmark conclusions.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11 /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How to win against AMD Xilinx: replace claims with customer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444751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1  DISCOVER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1261872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61488" y="1389888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Installed device/tool flow? Decision owner? Workload? Pain: latency, power, I/O, BOM, safety or schedule?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39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331720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5A5F"/>
                </a:solidFill>
                <a:latin typeface="Aptos"/>
              </a:defRPr>
            </a:pPr>
            <a:r>
              <a:t>2  BASELINE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2148839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61488" y="2276856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Capture AMD reference: exact device/board, tool version, model precision, interfaces, clocks and measured power.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035808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218688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00B8A9"/>
                </a:solidFill>
                <a:latin typeface="Aptos"/>
              </a:defRPr>
            </a:pPr>
            <a:r>
              <a:t>3  PROVE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14600" y="3035808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61488" y="3163824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Run the same workload on Altera; publish reproducible scripts, resource use, latency distribution, power and BOM.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22776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4105656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A86FF"/>
                </a:solidFill>
                <a:latin typeface="Aptos"/>
              </a:defRPr>
            </a:pPr>
            <a:r>
              <a:t>4  DE-RISK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14600" y="3922776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61488" y="4050791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Close IP gaps, migration effort, safety scope, supply/lifecycle and support plan with named DFAEs.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809744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4992624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DDC97"/>
                </a:solidFill>
                <a:latin typeface="Aptos"/>
              </a:defRPr>
            </a:pPr>
            <a:r>
              <a:t>5  COMMERCIALIZE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514600" y="4809744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61488" y="4937759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Convert evaluation success into architecture freeze, DWIN evidence and production forecast.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833872"/>
            <a:ext cx="11109960" cy="320040"/>
          </a:xfrm>
          <a:prstGeom prst="roundRect">
            <a:avLst/>
          </a:prstGeom>
          <a:solidFill>
            <a:srgbClr val="2B1D2F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5879592"/>
            <a:ext cx="1062532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Red line: do not use vendor headline TOPS, power or performance claims as an apples-to-apples result without reproducing the workload.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12 / TEAM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DFAE + ecosystem engagement: attach expertise to stage exits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53312"/>
            <a:ext cx="2578608" cy="23957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609344"/>
            <a:ext cx="2249424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5A5F"/>
                </a:solidFill>
                <a:latin typeface="Aptos"/>
              </a:defRPr>
            </a:pPr>
            <a:r>
              <a:t>DISCOVERY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93392"/>
            <a:ext cx="2249424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1">
                <a:solidFill>
                  <a:srgbClr val="F7FAFC"/>
                </a:solidFill>
                <a:latin typeface="Aptos"/>
              </a:defRPr>
            </a:pPr>
            <a:r>
              <a:t>Sales + FAE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487168"/>
            <a:ext cx="2249424" cy="8595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DDE6F3"/>
                </a:solidFill>
                <a:latin typeface="Aptos"/>
              </a:defRPr>
            </a:pPr>
            <a:r>
              <a:t>Sponsor, use case, value, budget and decision process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9272" y="1353312"/>
            <a:ext cx="2578608" cy="23957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609344"/>
            <a:ext cx="2249424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1993392"/>
            <a:ext cx="2249424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1">
                <a:solidFill>
                  <a:srgbClr val="F7FAFC"/>
                </a:solidFill>
                <a:latin typeface="Aptos"/>
              </a:defRPr>
            </a:pPr>
            <a:r>
              <a:t>FAE + specialist DFAE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487168"/>
            <a:ext cx="2249424" cy="8595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DDE6F3"/>
                </a:solidFill>
                <a:latin typeface="Aptos"/>
              </a:defRPr>
            </a:pPr>
            <a:r>
              <a:t>Block diagram, device fit, IP/tools and risk register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35624" y="1353312"/>
            <a:ext cx="2578608" cy="23957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1609344"/>
            <a:ext cx="2249424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A86FF"/>
                </a:solidFill>
                <a:latin typeface="Aptos"/>
              </a:defRPr>
            </a:pPr>
            <a:r>
              <a:t>VALIDATION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1993392"/>
            <a:ext cx="2249424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1">
                <a:solidFill>
                  <a:srgbClr val="F7FAFC"/>
                </a:solidFill>
                <a:latin typeface="Aptos"/>
              </a:defRPr>
            </a:pPr>
            <a:r>
              <a:t>Customer + FAE + DFAE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2487168"/>
            <a:ext cx="2249424" cy="8595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DDE6F3"/>
                </a:solidFill>
                <a:latin typeface="Aptos"/>
              </a:defRPr>
            </a:pPr>
            <a:r>
              <a:t>Evaluation results, issue closure and design-freeze evidence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1976" y="1353312"/>
            <a:ext cx="2578608" cy="23957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16568" y="1609344"/>
            <a:ext cx="2249424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DDC97"/>
                </a:solidFill>
                <a:latin typeface="Aptos"/>
              </a:defRPr>
            </a:pPr>
            <a:r>
              <a:t>PRODUCTION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16568" y="1993392"/>
            <a:ext cx="2249424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1">
                <a:solidFill>
                  <a:srgbClr val="F7FAFC"/>
                </a:solidFill>
                <a:latin typeface="Aptos"/>
              </a:defRPr>
            </a:pPr>
            <a:r>
              <a:t>Sales + FAE + channel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2487168"/>
            <a:ext cx="2249424" cy="8595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DDE6F3"/>
                </a:solidFill>
                <a:latin typeface="Aptos"/>
              </a:defRPr>
            </a:pPr>
            <a:r>
              <a:t>DW evidence, forecast, supply path and production handoff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041648"/>
            <a:ext cx="11109960" cy="150876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4315968"/>
            <a:ext cx="20116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WEEKLY OPERATING CADENCE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29768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MON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4572000"/>
            <a:ext cx="1874519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7FAFC"/>
                </a:solidFill>
                <a:latin typeface="Aptos"/>
              </a:defRPr>
            </a:pPr>
            <a:r>
              <a:t>Top-5 stage/gap inspection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429768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WED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4572000"/>
            <a:ext cx="1874519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7FAFC"/>
                </a:solidFill>
                <a:latin typeface="Aptos"/>
              </a:defRPr>
            </a:pPr>
            <a:r>
              <a:t>Customer/DFAE action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429768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FRI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4572000"/>
            <a:ext cx="1874519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7FAFC"/>
                </a:solidFill>
                <a:latin typeface="Aptos"/>
              </a:defRPr>
            </a:pPr>
            <a:r>
              <a:t>Evidence + CRM hygiene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429768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MONTH-END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4572000"/>
            <a:ext cx="1874519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7FAFC"/>
                </a:solidFill>
                <a:latin typeface="Aptos"/>
              </a:defRPr>
            </a:pPr>
            <a:r>
              <a:t>Pipeline creation + conversion scorecard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13 / COMMITMENTS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Close the review with owners, evidence and missing inputs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6675120" cy="452628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554480"/>
            <a:ext cx="61722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00B8A9"/>
                </a:solidFill>
                <a:latin typeface="Aptos"/>
              </a:defRPr>
            </a:pPr>
            <a:r>
              <a:t>PROPOSED COMMITMENTS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993392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993392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Name next-stage evidence and due date for every top-5 opportunity.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688336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688336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Qualify Weather Radar and CPU Interface Card from 0% or remove value from the active forecast.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383280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3383280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Name one Arrow and one Macnica robotics/AI/camera specialist by 05 Aug; verify solution readiness by 14 Aug.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4078224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4078224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Publish a 30-account Arrow + Macnica map and create the 15th strategic opportunity.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773168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4773168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Run three joint benchmark-led campaigns and inspect workshops, evaluations, qualified pipeline and DWINs weekly.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6640" y="1261872"/>
            <a:ext cx="4206240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62672" y="1554480"/>
            <a:ext cx="37033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FF5A5F"/>
                </a:solidFill>
                <a:latin typeface="Aptos"/>
              </a:defRPr>
            </a:pPr>
            <a:r>
              <a:t>INPUTS TO COMPLETE BEFORE PRESENTING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1993392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28431" y="1993392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2026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441448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2441448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YTD actual / achieved DWINs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2889504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889504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Gap-closure value and dates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3337560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28431" y="3337560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Support activity history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785616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28431" y="3785616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Customer market-share baseline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4233672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28431" y="4233672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Arrow + Macnica specialist names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681728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28431" y="4681728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Named solution DFAEs / kit status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5266944"/>
            <a:ext cx="3611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50" b="1">
                <a:solidFill>
                  <a:srgbClr val="00B8A9"/>
                </a:solidFill>
                <a:latin typeface="Aptos"/>
              </a:defRPr>
            </a:pPr>
            <a:r>
              <a:t>No invented numbers.</a:t>
            </a:r>
            <a:br/>
            <a:r>
              <a:t>Fill, validate, commit.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Appendix: scope, definitions and data-quality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243584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243584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Master report: 20 Sahil product lines / 14 opportunities. Uploaded open exports: 12 qualified opportunities; 2 Identify plays remain outside.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01952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BUCKETS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901952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“2026” and “2027” are the user-provided export labels. Membership is not inferred from Design Win Date; the 2027 export includes some 2026 DWIN dates.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560320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PEAK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560320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Product-line Peak Value summed within each Opportunity ID. Source file does not encode currency.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18688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WEIGHTED 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218688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Consolidated peak value × source probability. Identify opportunities at 0% therefore contribute zero.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77056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DWIN-DATED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877056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Opportunity Design Win Date falls in the stated year. This is a scheduled date, not proof of an achieved design win.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35424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DATES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4535424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Source mixes Excel dates and text dates; both were normalized for analysis.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193792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COVERAGE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5193792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All 12 uploaded open opportunities are direct and Distributor Account is blank. No channel-owned pipeline is evidenced.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998464"/>
            <a:ext cx="108813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Regenerate with: python3 qbr/generate_sahil_qbr.py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APPENDIX /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References: market evidence and solution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4300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143000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International Federation of Robotics, World Robotics 2025 press release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93792" y="1143000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https://ifr.org/ifr-press-releases/news/global-robot-demand-in-factories-doubles-over-10-years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627632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Rockwell Automation, 2025 State of Smart Manufacturing — APAC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93792" y="1627632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https://www.rockwellautomation.com/en-sg/company/news/press-releases/apac-sosm-2025.html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112264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112264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Interact Analysis, Machine Vision return-to-growth forecast, June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2112264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https://interactanalysis.com/return-to-growth-forecast-for-machine-vision-in-2025-despite-us-tariffs/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596896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96896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Robotics Solutions Stack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93792" y="2596896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https://www.altera.com/fpga-solutions/robotics-solutions-stack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081528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081528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Agilex 5 FPGA and SoC FPGA overview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3792" y="3081528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https://www.altera.com/products/fpga/agilex/5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56616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3566160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Kria KR260 robotics platform and Kria Robotics Stack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792" y="3566160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https://www.amd.com/en/products/system-on-modules/kria/k26/robotics.html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050791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050791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Video and Vision Processing Suite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792" y="4050791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https://www.altera.com/products/ip/po-3150/video-and-vision-processing-suite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535424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535424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FPGA AI Suite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93792" y="4535424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https://www.altera.com/products/development-tools/fpga-ai-suite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020056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5020056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Kria KV260 Vision AI Starter Kit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93792" y="5020056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https://www.amd.com/en/products/system-on-modules/kria/k26/kv260-vision-starter-kit.html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5504688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504688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Versal AI Edge Series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93792" y="5504688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https://www.amd.com/en/products/adaptive-socs-and-fpgas/versal/ai-edge-series.html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26480"/>
            <a:ext cx="108813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FF9F1C"/>
                </a:solidFill>
                <a:latin typeface="Aptos"/>
              </a:defRPr>
            </a:pPr>
            <a:r>
              <a:t>Accessed 28 Jul 2026. Vendor specifications and performance figures are vendor-stated; validate against current datasheets and customer workloads.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APPENDIX /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References: competitive product and tool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4300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143000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Industrial solutions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93792" y="1143000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https://www.altera.com/fpga-solutions/industrial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627632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Agilex 5 SoC HPS features including three 2.5G TSN Ethernet MACs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93792" y="1627632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https://docs.altera.com/r/docs/762191/current/agilextm-5-fpgas-and-socs-device-overview/additional-features-for-agilextm-5-socs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112264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112264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Industrial Networking solutions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2112264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https://www.amd.com/en/solutions/industrial/industrial-networking.html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596896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96896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Agilex 5 Functional Safety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93792" y="2596896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https://docs.altera.com/api/khub/documents/xhgkkZ1PZaLEHFnNiUlbNA/content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081528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081528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Functional Safety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3792" y="3081528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https://www.amd.com/en/products/adaptive-socs-and-fpgas/technologies/functional-safety.html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56616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3566160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Agilex 3 FPGA and SoC FPGA overview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792" y="3566160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https://www.altera.com/products/fpga/agilex/3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050791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050791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Spartan UltraScale+ FPGA overview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792" y="4050791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https://www.amd.com/en/products/adaptive-socs-and-fpgas/fpga/spartan-ultrascale-plus.html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535424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535424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Vitis unified software platform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93792" y="4535424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https://www.amd.com/en/products/software/adaptive-socs-and-fpgas/vitis.html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020056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5020056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Video Solutions Stack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93792" y="5020056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https://www.altera.com/fpga-solutions/video-solutions-stack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5504688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504688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Sensor Interfaces including Holoscan Sensor Bridge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93792" y="5504688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https://www.altera.com/fpga-solutions/sensory-interfaces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26480"/>
            <a:ext cx="108813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FF9F1C"/>
                </a:solidFill>
                <a:latin typeface="Aptos"/>
              </a:defRPr>
            </a:pPr>
            <a:r>
              <a:t>Accessed 28 Jul 2026. Vendor specifications and performance figures are vendor-stated; validate against current datasheets and customer workloads.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