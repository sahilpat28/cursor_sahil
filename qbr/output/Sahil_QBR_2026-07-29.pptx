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B8A9"/>
                </a:solidFill>
                <a:latin typeface="Aptos"/>
              </a:defRPr>
            </a:pPr>
            <a:r>
              <a:t>QUARTERLY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7863840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500" b="1">
                <a:solidFill>
                  <a:srgbClr val="F7FAFC"/>
                </a:solidFill>
                <a:latin typeface="Aptos"/>
              </a:defRPr>
            </a:pPr>
            <a:r>
              <a:t>Own the next gate.</a:t>
            </a:r>
            <a:br/>
            <a:r>
              <a:t>Build the 2027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42032"/>
            <a:ext cx="7223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0">
                <a:solidFill>
                  <a:srgbClr val="DDE6F3"/>
                </a:solidFill>
                <a:latin typeface="Aptos"/>
              </a:defRPr>
            </a:pPr>
            <a:r>
              <a:t>FAE plan review  •  Altera + Arrow + Macnica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6949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A8B2C7"/>
                </a:solidFill>
                <a:latin typeface="Aptos"/>
              </a:defRPr>
            </a:pPr>
            <a:r>
              <a:t>Wednesday, 29 July 2026  |  12:00–13:00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685800"/>
            <a:ext cx="2971800" cy="5074920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1078992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A8B2C7"/>
                </a:solidFill>
                <a:latin typeface="Aptos"/>
              </a:defRPr>
            </a:pPr>
            <a:r>
              <a:t>PIPELINE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1508760"/>
            <a:ext cx="22860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00B8A9"/>
                </a:solidFill>
                <a:latin typeface="Aptos"/>
              </a:defRPr>
            </a:pPr>
            <a:r>
              <a:t>11.82M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1993392"/>
            <a:ext cx="2286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DDE6F3"/>
                </a:solidFill>
                <a:latin typeface="Aptos"/>
              </a:defRPr>
            </a:pPr>
            <a:r>
              <a:t>peak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487168"/>
            <a:ext cx="22860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3A86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971800"/>
            <a:ext cx="2286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DDE6F3"/>
                </a:solidFill>
                <a:latin typeface="Aptos"/>
              </a:defRPr>
            </a:pPr>
            <a:r>
              <a:t>distinct 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3456432"/>
            <a:ext cx="22860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FF9F1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3941063"/>
            <a:ext cx="2286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DDE6F3"/>
                </a:solidFill>
                <a:latin typeface="Aptos"/>
              </a:defRPr>
            </a:pPr>
            <a:r>
              <a:t>direct-account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4590288"/>
            <a:ext cx="22860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F5A5F"/>
                </a:solidFill>
                <a:latin typeface="Aptos"/>
              </a:defRPr>
            </a:pPr>
            <a:r>
              <a:t>Target + actual</a:t>
            </a:r>
            <a:br/>
            <a:r>
              <a:t>inputs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996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A8B2C7"/>
                </a:solidFill>
                <a:latin typeface="Aptos"/>
              </a:defRPr>
            </a:pPr>
            <a:r>
              <a:t>Prepared from Sahil Report.xlsx  •  Source values shown without assumed currency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01 /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Executive snapshot: value exists; conversion discipline is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578608" cy="1024128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53312"/>
            <a:ext cx="22494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A8B2C7"/>
                </a:solidFill>
                <a:latin typeface="Aptos"/>
              </a:defRPr>
            </a:pPr>
            <a:r>
              <a:t>PEAK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22494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00B8A9"/>
                </a:solidFill>
                <a:latin typeface="Aptos"/>
              </a:defRPr>
            </a:pPr>
            <a:r>
              <a:t>11.82M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84248"/>
            <a:ext cx="22494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DDE6F3"/>
                </a:solidFill>
                <a:latin typeface="Aptos"/>
              </a:defRPr>
            </a:pPr>
            <a:r>
              <a:t>14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234440"/>
            <a:ext cx="2578608" cy="1024128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353312"/>
            <a:ext cx="22494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A8B2C7"/>
                </a:solidFill>
                <a:latin typeface="Aptos"/>
              </a:defRPr>
            </a:pPr>
            <a:r>
              <a:t>WEIGHTED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581912"/>
            <a:ext cx="22494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3A86FF"/>
                </a:solidFill>
                <a:latin typeface="Aptos"/>
              </a:defRPr>
            </a:pPr>
            <a:r>
              <a:t>2.51M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1984248"/>
            <a:ext cx="22494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DDE6F3"/>
                </a:solidFill>
                <a:latin typeface="Aptos"/>
              </a:defRPr>
            </a:pPr>
            <a:r>
              <a:t>probability × peak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234440"/>
            <a:ext cx="2578608" cy="1024128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353312"/>
            <a:ext cx="22494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A8B2C7"/>
                </a:solidFill>
                <a:latin typeface="Aptos"/>
              </a:defRPr>
            </a:pPr>
            <a:r>
              <a:t>ADDED IN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1581912"/>
            <a:ext cx="22494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FF9F1C"/>
                </a:solidFill>
                <a:latin typeface="Aptos"/>
              </a:defRPr>
            </a:pPr>
            <a:r>
              <a:t>6.70M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984248"/>
            <a:ext cx="22494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DDE6F3"/>
                </a:solidFill>
                <a:latin typeface="Aptos"/>
              </a:defRPr>
            </a:pPr>
            <a:r>
              <a:t>8 new opportunities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234440"/>
            <a:ext cx="2578608" cy="1024128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1353312"/>
            <a:ext cx="22494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A8B2C7"/>
                </a:solidFill>
                <a:latin typeface="Aptos"/>
              </a:defRPr>
            </a:pPr>
            <a:r>
              <a:t>2026 DWIN-DATED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1581912"/>
            <a:ext cx="22494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3DDC97"/>
                </a:solidFill>
                <a:latin typeface="Aptos"/>
              </a:defRPr>
            </a:pPr>
            <a:r>
              <a:t>5.30M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1984248"/>
            <a:ext cx="22494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DDE6F3"/>
                </a:solidFill>
                <a:latin typeface="Aptos"/>
              </a:defRPr>
            </a:pPr>
            <a:r>
              <a:t>5 opportunities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542032"/>
            <a:ext cx="6903720" cy="3520440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788920"/>
            <a:ext cx="6446520" cy="2971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B8A9"/>
                </a:solidFill>
                <a:latin typeface="Aptos"/>
              </a:defRPr>
            </a:pPr>
            <a:r>
              <a:t>WHAT THE DATA SAYS</a:t>
            </a:r>
          </a:p>
          <a:p>
            <a:pPr>
              <a:spcAft>
                <a:spcPts val="500"/>
              </a:spcAft>
              <a:defRPr sz="1500" b="0">
                <a:solidFill>
                  <a:srgbClr val="F7FAFC"/>
                </a:solidFill>
                <a:latin typeface="Aptos"/>
              </a:defRPr>
            </a:pPr>
            <a:r>
              <a:t>• 3.60M sits at Identify / 0% probability; qualification is the first value unlock.</a:t>
            </a:r>
          </a:p>
          <a:p>
            <a:pPr>
              <a:spcAft>
                <a:spcPts val="500"/>
              </a:spcAft>
              <a:defRPr sz="1500" b="0">
                <a:solidFill>
                  <a:srgbClr val="F7FAFC"/>
                </a:solidFill>
                <a:latin typeface="Aptos"/>
              </a:defRPr>
            </a:pPr>
            <a:r>
              <a:t>• Outdu AI is 4.12M (35% of portfolio) but remains Define with a 21 Oct 2026 DWIN date.</a:t>
            </a:r>
          </a:p>
          <a:p>
            <a:pPr>
              <a:spcAft>
                <a:spcPts val="500"/>
              </a:spcAft>
              <a:defRPr sz="1500" b="0">
                <a:solidFill>
                  <a:srgbClr val="F7FAFC"/>
                </a:solidFill>
                <a:latin typeface="Aptos"/>
              </a:defRPr>
            </a:pPr>
            <a:r>
              <a:t>• Q4 2026 DWIN-dated pipeline is 5.04M, yet weighted value is only 1.26M.</a:t>
            </a:r>
          </a:p>
          <a:p>
            <a:pPr>
              <a:spcAft>
                <a:spcPts val="500"/>
              </a:spcAft>
              <a:defRPr sz="1500" b="0">
                <a:solidFill>
                  <a:srgbClr val="F7FAFC"/>
                </a:solidFill>
                <a:latin typeface="Aptos"/>
              </a:defRPr>
            </a:pPr>
            <a:r>
              <a:t>• Source contains direct opportunities only; no distributor-owned pipeline is present.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542032"/>
            <a:ext cx="3977639" cy="352044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7" y="2788920"/>
            <a:ext cx="3456432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9F1C"/>
                </a:solidFill>
                <a:latin typeface="Aptos"/>
              </a:defRPr>
            </a:pPr>
            <a:r>
              <a:t>DECISIONS FOR THE REVIEW</a:t>
            </a:r>
          </a:p>
          <a:p>
            <a:pPr>
              <a:spcAft>
                <a:spcPts val="500"/>
              </a:spcAft>
              <a:defRPr sz="1500" b="1">
                <a:solidFill>
                  <a:srgbClr val="F7FAFC"/>
                </a:solidFill>
                <a:latin typeface="Aptos"/>
              </a:defRPr>
            </a:pPr>
            <a:r>
              <a:t>1  Confirm 2026 target and YTD actual.</a:t>
            </a:r>
          </a:p>
          <a:p>
            <a:pPr>
              <a:spcAft>
                <a:spcPts val="500"/>
              </a:spcAft>
              <a:defRPr sz="1500" b="1">
                <a:solidFill>
                  <a:srgbClr val="F7FAFC"/>
                </a:solidFill>
                <a:latin typeface="Aptos"/>
              </a:defRPr>
            </a:pPr>
            <a:r>
              <a:t>2  Agree stage-exit evidence for four Q4 DWINs.</a:t>
            </a:r>
          </a:p>
          <a:p>
            <a:pPr>
              <a:spcAft>
                <a:spcPts val="500"/>
              </a:spcAft>
              <a:defRPr sz="1500" b="1">
                <a:solidFill>
                  <a:srgbClr val="F7FAFC"/>
                </a:solidFill>
                <a:latin typeface="Aptos"/>
              </a:defRPr>
            </a:pPr>
            <a:r>
              <a:t>3  Assign DFAE support to top conversion plays.</a:t>
            </a:r>
          </a:p>
          <a:p>
            <a:pPr>
              <a:spcAft>
                <a:spcPts val="500"/>
              </a:spcAft>
              <a:defRPr sz="1500" b="1">
                <a:solidFill>
                  <a:srgbClr val="F7FAFC"/>
                </a:solidFill>
                <a:latin typeface="Aptos"/>
              </a:defRPr>
            </a:pPr>
            <a:r>
              <a:t>4  Select a distributor plan or confirm direct-only coverage.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01 /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2026 target vs current achievement: source inputs are incomplete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Aptos"/>
              </a:defRPr>
            </a:pPr>
            <a:r>
              <a:t>Do not use open opportunity value as booked achievement or target attainment.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493008" cy="148132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1272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A8B2C7"/>
                </a:solidFill>
                <a:latin typeface="Aptos"/>
              </a:defRPr>
            </a:pPr>
            <a:r>
              <a:t>2026 ANNUAL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5A5F"/>
                </a:solidFill>
                <a:latin typeface="Aptos"/>
              </a:defRPr>
            </a:pPr>
            <a:r>
              <a:t>[ INPUT REQUIRED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88336"/>
            <a:ext cx="31272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DDE6F3"/>
                </a:solidFill>
                <a:latin typeface="Aptos"/>
              </a:defRPr>
            </a:pPr>
            <a:r>
              <a:t>Sales target is not in the source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691640"/>
            <a:ext cx="3493008" cy="148132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874519"/>
            <a:ext cx="31272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A8B2C7"/>
                </a:solidFill>
                <a:latin typeface="Aptos"/>
              </a:defRPr>
            </a:pPr>
            <a:r>
              <a:t>YTD ACTUAL ACHIEVEMENT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194560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5A5F"/>
                </a:solidFill>
                <a:latin typeface="Aptos"/>
              </a:defRPr>
            </a:pPr>
            <a:r>
              <a:t>[ INPUT REQUIRED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688336"/>
            <a:ext cx="31272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DDE6F3"/>
                </a:solidFill>
                <a:latin typeface="Aptos"/>
              </a:defRPr>
            </a:pPr>
            <a:r>
              <a:t>Bookings/revenue/DWIN actuals are not in the source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4" y="1691640"/>
            <a:ext cx="3493008" cy="148132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874519"/>
            <a:ext cx="31272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A8B2C7"/>
                </a:solidFill>
                <a:latin typeface="Aptos"/>
              </a:defRPr>
            </a:pPr>
            <a:r>
              <a:t>GAP TO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194560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9F1C"/>
                </a:solidFill>
                <a:latin typeface="Aptos"/>
              </a:defRPr>
            </a:pPr>
            <a:r>
              <a:t>[ CALCULATE AFTER INPUT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688336"/>
            <a:ext cx="31272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DDE6F3"/>
                </a:solidFill>
                <a:latin typeface="Aptos"/>
              </a:defRPr>
            </a:pPr>
            <a:r>
              <a:t>Target − YTD actual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93008"/>
            <a:ext cx="11109960" cy="2240280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39"/>
            <a:ext cx="10652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00B8A9"/>
                </a:solidFill>
                <a:latin typeface="Aptos"/>
              </a:defRPr>
            </a:pPr>
            <a:r>
              <a:t>AVAILABLE LEADING INDICATORS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187952"/>
            <a:ext cx="2240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A8B2C7"/>
                </a:solidFill>
                <a:latin typeface="Aptos"/>
              </a:defRPr>
            </a:pPr>
            <a:r>
              <a:t>Peak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480560"/>
            <a:ext cx="2240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F7FAFC"/>
                </a:solidFill>
                <a:latin typeface="Aptos"/>
              </a:defRPr>
            </a:pPr>
            <a:r>
              <a:t>11.82M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187952"/>
            <a:ext cx="2240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A8B2C7"/>
                </a:solidFill>
                <a:latin typeface="Aptos"/>
              </a:defRPr>
            </a:pPr>
            <a:r>
              <a:t>Weighted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4480560"/>
            <a:ext cx="2240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F7FAFC"/>
                </a:solidFill>
                <a:latin typeface="Aptos"/>
              </a:defRPr>
            </a:pPr>
            <a:r>
              <a:t>2.51M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187952"/>
            <a:ext cx="2240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A8B2C7"/>
                </a:solidFill>
                <a:latin typeface="Aptos"/>
              </a:defRPr>
            </a:pPr>
            <a:r>
              <a:t>2026-created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4480560"/>
            <a:ext cx="2240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F7FAFC"/>
                </a:solidFill>
                <a:latin typeface="Aptos"/>
              </a:defRPr>
            </a:pPr>
            <a:r>
              <a:t>8 / 6.70M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4187952"/>
            <a:ext cx="2240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A8B2C7"/>
                </a:solidFill>
                <a:latin typeface="Aptos"/>
              </a:defRPr>
            </a:pPr>
            <a:r>
              <a:t>2026 DWIN-dated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4480560"/>
            <a:ext cx="2240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F7FAFC"/>
                </a:solidFill>
                <a:latin typeface="Aptos"/>
              </a:defRPr>
            </a:pPr>
            <a:r>
              <a:t>5 / 5.30M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30368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F9F1C"/>
                </a:solidFill>
                <a:latin typeface="Aptos"/>
              </a:defRPr>
            </a:pPr>
            <a:r>
              <a:t>Bring to review: annual target, YTD revenue/bookings, achieved DWIN count/value, and definition of “achievement.”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02 /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Opportunity funnel: 58% of value remains at 0–25%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39903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8B2C7"/>
                </a:solidFill>
                <a:latin typeface="Aptos"/>
              </a:defRPr>
            </a:pPr>
            <a:r>
              <a:t>2 opps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325880"/>
            <a:ext cx="5806440" cy="438912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48840" y="1325880"/>
            <a:ext cx="3058236" cy="438912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1353312"/>
            <a:ext cx="1051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300" b="1">
                <a:solidFill>
                  <a:srgbClr val="F7FAFC"/>
                </a:solidFill>
                <a:latin typeface="Aptos"/>
              </a:defRPr>
            </a:pPr>
            <a:r>
              <a:t>3.60M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1353312"/>
            <a:ext cx="13898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8B2C7"/>
                </a:solidFill>
                <a:latin typeface="Aptos"/>
              </a:defRPr>
            </a:pPr>
            <a:r>
              <a:t>weighted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59152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3591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8B2C7"/>
                </a:solidFill>
                <a:latin typeface="Aptos"/>
              </a:defRPr>
            </a:pPr>
            <a:r>
              <a:t>8 opps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286000"/>
            <a:ext cx="5806440" cy="438912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48840" y="2286000"/>
            <a:ext cx="5806440" cy="43891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2313432"/>
            <a:ext cx="1051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300" b="1">
                <a:solidFill>
                  <a:srgbClr val="F7FAFC"/>
                </a:solidFill>
                <a:latin typeface="Aptos"/>
              </a:defRPr>
            </a:pPr>
            <a:r>
              <a:t>6.84M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313432"/>
            <a:ext cx="13898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8B2C7"/>
                </a:solidFill>
                <a:latin typeface="Aptos"/>
              </a:defRPr>
            </a:pPr>
            <a:r>
              <a:t>weighted 1.70M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319272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Develop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31927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8B2C7"/>
                </a:solidFill>
                <a:latin typeface="Aptos"/>
              </a:defRPr>
            </a:pPr>
            <a:r>
              <a:t>1 opps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3246120"/>
            <a:ext cx="5806440" cy="438912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48840" y="3246120"/>
            <a:ext cx="764559" cy="438912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3273551"/>
            <a:ext cx="1051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300" b="1">
                <a:solidFill>
                  <a:srgbClr val="F7FAFC"/>
                </a:solidFill>
                <a:latin typeface="Aptos"/>
              </a:defRPr>
            </a:pPr>
            <a:r>
              <a:t>900K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3273551"/>
            <a:ext cx="13898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8B2C7"/>
                </a:solidFill>
                <a:latin typeface="Aptos"/>
              </a:defRPr>
            </a:pPr>
            <a:r>
              <a:t>weighted 450K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79392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27939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8B2C7"/>
                </a:solidFill>
                <a:latin typeface="Aptos"/>
              </a:defRPr>
            </a:pPr>
            <a:r>
              <a:t>3 opps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4206240"/>
            <a:ext cx="5806440" cy="438912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48840" y="4206240"/>
            <a:ext cx="407764" cy="438912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233672"/>
            <a:ext cx="1051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300" b="1">
                <a:solidFill>
                  <a:srgbClr val="F7FAFC"/>
                </a:solidFill>
                <a:latin typeface="Aptos"/>
              </a:defRPr>
            </a:pPr>
            <a:r>
              <a:t>480K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233672"/>
            <a:ext cx="13898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8B2C7"/>
                </a:solidFill>
                <a:latin typeface="Aptos"/>
              </a:defRPr>
            </a:pPr>
            <a:r>
              <a:t>weighted 360K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30368"/>
            <a:ext cx="11109960" cy="68580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431536"/>
            <a:ext cx="3063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Aptos"/>
              </a:defRPr>
            </a:pPr>
            <a:r>
              <a:t>Top 3 = 68% of peak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431536"/>
            <a:ext cx="3429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5A5F"/>
                </a:solidFill>
                <a:latin typeface="Aptos"/>
              </a:defRPr>
            </a:pPr>
            <a:r>
              <a:t>2 Identify opportunities = 0 weighted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431536"/>
            <a:ext cx="35204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00B8A9"/>
                </a:solidFill>
                <a:latin typeface="Aptos"/>
              </a:defRPr>
            </a:pPr>
            <a:r>
              <a:t>Priority: qualify → define →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03 /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2026 DWIN-dated pipeline: convert five named plays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099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12848"/>
                <a:gridCol w="694944"/>
                <a:gridCol w="566928"/>
                <a:gridCol w="941832"/>
                <a:gridCol w="704088"/>
                <a:gridCol w="4937760"/>
              </a:tblGrid>
              <a:tr h="5410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Opportunity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Prob.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DWIN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Peak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Proposed next gate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Philips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XSC/CT Scanner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Design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75%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11 Sep 2026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270K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Secure DW evidence and production handoff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Outdu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Intelligent Sense _Response Solution_AI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21 Oct 2026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4.12M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GE HealthCare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SP-PDU CONTROL BOARD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 Nov 2026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110K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Honeywell Tech.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Industrial automation controller - Process manager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Design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75%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30 Nov 2026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25K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Secure DW evidence and production handoff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541020"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Emerson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RX3i CEP002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16 Dec 2026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775K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4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773168"/>
            <a:ext cx="11109960" cy="1078992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992624"/>
            <a:ext cx="2423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FF9F1C"/>
                </a:solidFill>
                <a:latin typeface="Aptos"/>
              </a:defRPr>
            </a:pPr>
            <a:r>
              <a:t>REVIEW COMMITMENT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4928616"/>
            <a:ext cx="83667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7FAFC"/>
                </a:solidFill>
                <a:latin typeface="Aptos"/>
              </a:defRPr>
            </a:pPr>
            <a:r>
              <a:t>For each play: customer decision date • technical gap • required sample/tool/IP • named Sales + FAE + DFAE owners • evidence for the next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04 / TOP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Top opportunities 1–7: protect the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0996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143000"/>
                <a:gridCol w="2304288"/>
                <a:gridCol w="658368"/>
                <a:gridCol w="548640"/>
                <a:gridCol w="914400"/>
                <a:gridCol w="676656"/>
                <a:gridCol w="4544568"/>
              </a:tblGrid>
              <a:tr h="5623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#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Opportunity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Prob.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DWIN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Peak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Proposed next gate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</a:tr>
              <a:tr h="562356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Outdu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Intelligent Sense _Response Solution_AI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21 Oct 2026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4.12M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</a:tr>
              <a:tr h="562356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Honeywell Aerospace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Weather Monitoring Radar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Identify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0%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24 Nov 2027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3.00M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Qualify use case, sponsor, budget and 0→25% gate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</a:tr>
              <a:tr h="562356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Juniper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CFPGA_PCIe Gen1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Develop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50%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19 Feb 2027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900K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Close validation plan and design-freeze evidence</a:t>
                      </a:r>
                    </a:p>
                  </a:txBody>
                  <a:tcPr marL="54864" marR="36576" marT="22860" marB="18288">
                    <a:solidFill>
                      <a:srgbClr val="14213D"/>
                    </a:solidFill>
                  </a:tcPr>
                </a:tc>
              </a:tr>
              <a:tr h="562356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Outdu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Long Range Tracking System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17 Mar 2027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825K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562356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Emerson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RX3i CEP002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16 Dec 2026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775K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562356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Juniper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CPU Interface Card_PQC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Identify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0%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29 Dec 2027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600K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Qualify use case, sponsor, budget and 0→25% gate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562356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GE HealthCare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Anesthesia Controller_X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28 May 2027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500K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79592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F9F1C"/>
                </a:solidFill>
                <a:latin typeface="Aptos"/>
              </a:defRPr>
            </a:pPr>
            <a:r>
              <a:t>Ranks 1–3 contribute 67.9% of total peak value; weekly executive inspection is warranted.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04 / TOP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Top opportunities 8–14: build breadth and add #15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0996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143000"/>
                <a:gridCol w="2304288"/>
                <a:gridCol w="658368"/>
                <a:gridCol w="548640"/>
                <a:gridCol w="914400"/>
                <a:gridCol w="676656"/>
                <a:gridCol w="4544568"/>
              </a:tblGrid>
              <a:tr h="49987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#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Opportunity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Prob.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DWIN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Peak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Proposed next gate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</a:tr>
              <a:tr h="499872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GE HealthCare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CT Scanner_DCB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07 Jul 2027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400K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499872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Philips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XSC/CT Scanner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Design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75%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11 Sep 2026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270K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Secure DW evidence and production handoff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499872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Honeywell Tech.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micro vapour cooling system - VCS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Design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75%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01 Jun 2027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185K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Secure DW evidence and production handoff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499872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GE HealthCare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SP-PDU CONTROL BOARD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 Nov 2026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110K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499872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Honeywell Tech.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CMU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05 Dec 2027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90K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499872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Honeywell Tech.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Industrial automation controller - Process manager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Design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75%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30 Nov 2026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25K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Secure DW evidence and production handoff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499872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Philips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User interface hub for MRI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Define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31 Jan 2027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10K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architecture/BOM and evaluation plan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499872"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54864" marR="36576" marT="22860" marB="18288">
                    <a:solidFill>
                      <a:srgbClr val="2B1D2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2860" marB="18288">
                    <a:solidFill>
                      <a:srgbClr val="2B1D2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OPEN SLOT</a:t>
                      </a:r>
                    </a:p>
                  </a:txBody>
                  <a:tcPr marL="54864" marR="36576" marT="22860" marB="18288">
                    <a:solidFill>
                      <a:srgbClr val="2B1D2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2860" marB="18288">
                    <a:solidFill>
                      <a:srgbClr val="2B1D2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2860" marB="18288">
                    <a:solidFill>
                      <a:srgbClr val="2B1D2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2860" marB="18288">
                    <a:solidFill>
                      <a:srgbClr val="2B1D2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2860" marB="18288">
                    <a:solidFill>
                      <a:srgbClr val="2B1D2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1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Add a qualified 2027 demand-creation play</a:t>
                      </a:r>
                    </a:p>
                  </a:txBody>
                  <a:tcPr marL="54864" marR="36576" marT="22860" marB="18288">
                    <a:solidFill>
                      <a:srgbClr val="2B1D2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79592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F9F1C"/>
                </a:solidFill>
                <a:latin typeface="Aptos"/>
              </a:defRPr>
            </a:pPr>
            <a:r>
              <a:t>The source contains 14 distinct Sahil opportunities—not 15. Use the open slot to create, qualify and name the next strategic 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05 /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Customer portfolio: Outdu and Honeywell Aerospace dominate peak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F7FAFC"/>
                </a:solidFill>
                <a:latin typeface="Aptos"/>
              </a:defRPr>
            </a:pPr>
            <a:r>
              <a:t>Outdu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280160"/>
            <a:ext cx="4800600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48840" y="1280160"/>
            <a:ext cx="4800600" cy="31089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4032" y="1271016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50" b="1">
                <a:solidFill>
                  <a:srgbClr val="F7FAFC"/>
                </a:solidFill>
                <a:latin typeface="Aptos"/>
              </a:defRPr>
            </a:pPr>
            <a:r>
              <a:t>4.95M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1271016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W 1.24M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1271016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2 opps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38527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F7FAFC"/>
                </a:solidFill>
                <a:latin typeface="Aptos"/>
              </a:defRPr>
            </a:pPr>
            <a:r>
              <a:t>Honeywell Aerospace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911095"/>
            <a:ext cx="4800600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48840" y="1911095"/>
            <a:ext cx="2909454" cy="31089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1901952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50" b="1">
                <a:solidFill>
                  <a:srgbClr val="F7FAFC"/>
                </a:solidFill>
                <a:latin typeface="Aptos"/>
              </a:defRPr>
            </a:pPr>
            <a:r>
              <a:t>3.00M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190195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W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1901952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1 opps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569463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F7FAFC"/>
                </a:solidFill>
                <a:latin typeface="Aptos"/>
              </a:defRPr>
            </a:pPr>
            <a:r>
              <a:t>Juniper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542032"/>
            <a:ext cx="4800600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48840" y="2542032"/>
            <a:ext cx="1454727" cy="31089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532888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50" b="1">
                <a:solidFill>
                  <a:srgbClr val="F7FAFC"/>
                </a:solidFill>
                <a:latin typeface="Aptos"/>
              </a:defRPr>
            </a:pPr>
            <a:r>
              <a:t>1.50M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2532888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W 450K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532888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2 opps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00399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F7FAFC"/>
                </a:solidFill>
                <a:latin typeface="Aptos"/>
              </a:defRPr>
            </a:pPr>
            <a:r>
              <a:t>GE HealthCare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3172968"/>
            <a:ext cx="4800600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48840" y="3172968"/>
            <a:ext cx="979560" cy="31089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3163824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50" b="1">
                <a:solidFill>
                  <a:srgbClr val="F7FAFC"/>
                </a:solidFill>
                <a:latin typeface="Aptos"/>
              </a:defRPr>
            </a:pPr>
            <a:r>
              <a:t>1.01M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3163824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W 242K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3163824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3 opps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31336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F7FAFC"/>
                </a:solidFill>
                <a:latin typeface="Aptos"/>
              </a:defRPr>
            </a:pPr>
            <a:r>
              <a:t>Emerson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3803904"/>
            <a:ext cx="4800600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48840" y="3803904"/>
            <a:ext cx="751609" cy="31089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379476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50" b="1">
                <a:solidFill>
                  <a:srgbClr val="F7FAFC"/>
                </a:solidFill>
                <a:latin typeface="Aptos"/>
              </a:defRPr>
            </a:pPr>
            <a:r>
              <a:t>775K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3794760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W 194K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379476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1 opps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462272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F7FAFC"/>
                </a:solidFill>
                <a:latin typeface="Aptos"/>
              </a:defRPr>
            </a:pPr>
            <a:r>
              <a:t>Honeywell Tech.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4434840"/>
            <a:ext cx="4800600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48840" y="4434840"/>
            <a:ext cx="290945" cy="31089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4032" y="4425696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50" b="1">
                <a:solidFill>
                  <a:srgbClr val="F7FAFC"/>
                </a:solidFill>
                <a:latin typeface="Aptos"/>
              </a:defRPr>
            </a:pPr>
            <a:r>
              <a:t>300K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4" y="4425696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W 180K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8864" y="4425696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3 opps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093207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F7FAFC"/>
                </a:solidFill>
                <a:latin typeface="Aptos"/>
              </a:defRPr>
            </a:pPr>
            <a:r>
              <a:t>Philips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8840" y="5065775"/>
            <a:ext cx="4800600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48840" y="5065775"/>
            <a:ext cx="271549" cy="31089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14032" y="5056631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50" b="1">
                <a:solidFill>
                  <a:srgbClr val="F7FAFC"/>
                </a:solidFill>
                <a:latin typeface="Aptos"/>
              </a:defRPr>
            </a:pPr>
            <a:r>
              <a:t>280K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4" y="5056631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W 205K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8864" y="5056631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A8B2C7"/>
                </a:solidFill>
                <a:latin typeface="Aptos"/>
              </a:defRPr>
            </a:pPr>
            <a:r>
              <a:t>2 opps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870448"/>
            <a:ext cx="11109960" cy="38404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5943600"/>
            <a:ext cx="10652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FF9F1C"/>
                </a:solidFill>
                <a:latin typeface="Aptos"/>
              </a:defRPr>
            </a:pPr>
            <a:r>
              <a:t>Coverage check: 14/14 are direct “Altera Opportunity”; distributor account is blank on every Sahil line item.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05 /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Q4 2026 / 2027 account plans: convert now, then expand adjacencies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0995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2084831"/>
                <a:gridCol w="3749039"/>
                <a:gridCol w="4197096"/>
              </a:tblGrid>
              <a:tr h="64661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Account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Current plays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Q4 2026 proposed focus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2027 proposed expansion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Outdu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AI response + tracking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Close 21 Oct architecture, BOM and evaluation gate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Replicate video/vision pipeline across tracking + analytics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Honeywell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Radar + industrial/aerospace control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Qualify 3.00M radar; close two Design-stage evidence packs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Create radar/thermal-control solution campaign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Juniper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PCIe FPGA + PQC interface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Move CFPGA through validation; qualify PQC from 0%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Position Agilex 3 for security/control-plane refresh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GE HealthCare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CT, anesthesia, power control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Recover 2026 SP-PDU gate; define CT/anesthesia evaluations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Medical imaging + controller platform expansion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Emerson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RX3i controller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Freeze dual-device architecture before 16 Dec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Industrial automation controller modernization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646614"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Philips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CT + MRI UI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Secure CT design evidence; define MRI UI success criteria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0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Imaging workflow and low-power control adjacency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79592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0">
                <a:solidFill>
                  <a:srgbClr val="A8B2C7"/>
                </a:solidFill>
                <a:latin typeface="Aptos"/>
              </a:defRPr>
            </a:pPr>
            <a:r>
              <a:t>These are proposed actions inferred from stage/date/product data; validate customer commitments and support history in the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06 / 2027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FY2027 demand creation: three repeatable 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493008" cy="434340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72768"/>
            <a:ext cx="30906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F9F1C"/>
                </a:solidFill>
                <a:latin typeface="Aptos"/>
              </a:defRPr>
            </a:pPr>
            <a:r>
              <a:t>ROBOTICS +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48840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95728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Industrial OEMs; Emerson + Honeywell adjacencies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163824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410712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Deterministic control, functional partitioning, secure 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206240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453128"/>
            <a:ext cx="3090672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Controller architecture workshop + 3 qualified use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298448"/>
            <a:ext cx="3493008" cy="434340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7" y="1572768"/>
            <a:ext cx="30906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B8A9"/>
                </a:solidFill>
                <a:latin typeface="Aptos"/>
              </a:defRPr>
            </a:pPr>
            <a:r>
              <a:t>VIDEO +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7" y="2148840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7" y="2395728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Outdu, medical imaging and smart sensing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3163824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3410712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Edge AI/video pipeline on Agilex 5 D / Agilex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4206240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4453128"/>
            <a:ext cx="3090672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Vision benchmark day + reference design + 3 evaluations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298448"/>
            <a:ext cx="3493008" cy="434340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1572768"/>
            <a:ext cx="30906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3A86FF"/>
                </a:solidFill>
                <a:latin typeface="Aptos"/>
              </a:defRPr>
            </a:pPr>
            <a:r>
              <a:t>INDUSTRIAL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148840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2395728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Automation, medical controls and network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3163824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3410712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PCIe/Ethernet modernization and legacy FPGA migration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4206240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4453128"/>
            <a:ext cx="3090672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Portfolio migration clinic + joint Sales/FAE account 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852160"/>
            <a:ext cx="10881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F9F1C"/>
                </a:solidFill>
                <a:latin typeface="Aptos"/>
              </a:defRPr>
            </a:pPr>
            <a:r>
              <a:t>Review decision: choose numeric 2027 creation targets after the 2027 sales objective is confirmed.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07 /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Critical-review verdict: strong analysis, incomplete execution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834640" cy="4553712"/>
          </a:xfrm>
          <a:prstGeom prst="roundRect">
            <a:avLst/>
          </a:prstGeom>
          <a:solidFill>
            <a:srgbClr val="2B1D2F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554480"/>
            <a:ext cx="23042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FF5A5F"/>
                </a:solidFill>
                <a:latin typeface="Aptos"/>
              </a:defRPr>
            </a:pPr>
            <a:r>
              <a:t>CURRENT 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993392"/>
            <a:ext cx="230428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NOT YET</a:t>
            </a:r>
            <a:br/>
            <a:r>
              <a:t>READY TO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90672"/>
            <a:ext cx="2304288" cy="1572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DDE6F3"/>
                </a:solidFill>
                <a:latin typeface="Aptos"/>
              </a:defRPr>
            </a:pPr>
            <a:r>
              <a:t>The market case and opportunity analysis are strong. The team, demos, distributor ownership and conversion system are not yet committed.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047488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Aptos"/>
              </a:defRPr>
            </a:pPr>
            <a:r>
              <a:t>Fix the operating model before launching campaigns.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84448" y="1234440"/>
          <a:ext cx="8028432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822960"/>
                <a:gridCol w="5541264"/>
              </a:tblGrid>
              <a:tr h="65053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Readiness gate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Evidence / gap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</a:tr>
              <a:tr h="650530"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Pipeline facts</a:t>
                      </a:r>
                    </a:p>
                  </a:txBody>
                  <a:tcPr marL="54864" marR="36576" marT="22860" marB="18288">
                    <a:solidFill>
                      <a:srgbClr val="14362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GREEN</a:t>
                      </a:r>
                    </a:p>
                  </a:txBody>
                  <a:tcPr marL="54864" marR="36576" marT="22860" marB="18288">
                    <a:solidFill>
                      <a:srgbClr val="14362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14 opportunities; value/stage/customer view is auditable</a:t>
                      </a:r>
                    </a:p>
                  </a:txBody>
                  <a:tcPr marL="54864" marR="36576" marT="22860" marB="18288">
                    <a:solidFill>
                      <a:srgbClr val="14362E"/>
                    </a:solidFill>
                  </a:tcPr>
                </a:tc>
              </a:tr>
              <a:tr h="650530"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Market + competition</a:t>
                      </a:r>
                    </a:p>
                  </a:txBody>
                  <a:tcPr marL="54864" marR="36576" marT="22860" marB="18288">
                    <a:solidFill>
                      <a:srgbClr val="14362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GREEN</a:t>
                      </a:r>
                    </a:p>
                  </a:txBody>
                  <a:tcPr marL="54864" marR="36576" marT="22860" marB="18288">
                    <a:solidFill>
                      <a:srgbClr val="14362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Three sourced segments and an honest AMD battlecard</a:t>
                      </a:r>
                    </a:p>
                  </a:txBody>
                  <a:tcPr marL="54864" marR="36576" marT="22860" marB="18288">
                    <a:solidFill>
                      <a:srgbClr val="14362E"/>
                    </a:solidFill>
                  </a:tcPr>
                </a:tc>
              </a:tr>
              <a:tr h="650530"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Solution portfolio</a:t>
                      </a:r>
                    </a:p>
                  </a:txBody>
                  <a:tcPr marL="54864" marR="36576" marT="22860" marB="18288">
                    <a:solidFill>
                      <a:srgbClr val="3A2F1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54864" marR="36576" marT="22860" marB="18288">
                    <a:solidFill>
                      <a:srgbClr val="3A2F1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Solutions exist; access, kit, maturity and demo owners need verification</a:t>
                      </a:r>
                    </a:p>
                  </a:txBody>
                  <a:tcPr marL="54864" marR="36576" marT="22860" marB="18288">
                    <a:solidFill>
                      <a:srgbClr val="3A2F16"/>
                    </a:solidFill>
                  </a:tcPr>
                </a:tc>
              </a:tr>
              <a:tr h="650530"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Distributor team</a:t>
                      </a:r>
                    </a:p>
                  </a:txBody>
                  <a:tcPr marL="54864" marR="36576" marT="22860" marB="18288">
                    <a:solidFill>
                      <a:srgbClr val="3B1D2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RED</a:t>
                      </a:r>
                    </a:p>
                  </a:txBody>
                  <a:tcPr marL="54864" marR="36576" marT="22860" marB="18288">
                    <a:solidFill>
                      <a:srgbClr val="3B1D2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No Arrow or Macnica specialist is named</a:t>
                      </a:r>
                    </a:p>
                  </a:txBody>
                  <a:tcPr marL="54864" marR="36576" marT="22860" marB="18288">
                    <a:solidFill>
                      <a:srgbClr val="3B1D28"/>
                    </a:solidFill>
                  </a:tcPr>
                </a:tc>
              </a:tr>
              <a:tr h="650530"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Channel pipeline</a:t>
                      </a:r>
                    </a:p>
                  </a:txBody>
                  <a:tcPr marL="54864" marR="36576" marT="22860" marB="18288">
                    <a:solidFill>
                      <a:srgbClr val="3B1D2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RED</a:t>
                      </a:r>
                    </a:p>
                  </a:txBody>
                  <a:tcPr marL="54864" marR="36576" marT="22860" marB="18288">
                    <a:solidFill>
                      <a:srgbClr val="3B1D2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0/14 opportunities linked to a distributor account</a:t>
                      </a:r>
                    </a:p>
                  </a:txBody>
                  <a:tcPr marL="54864" marR="36576" marT="22860" marB="18288">
                    <a:solidFill>
                      <a:srgbClr val="3B1D28"/>
                    </a:solidFill>
                  </a:tcPr>
                </a:tc>
              </a:tr>
              <a:tr h="650532"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Execution scorecard</a:t>
                      </a:r>
                    </a:p>
                  </a:txBody>
                  <a:tcPr marL="54864" marR="36576" marT="22860" marB="18288">
                    <a:solidFill>
                      <a:srgbClr val="3A2F1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54864" marR="36576" marT="22860" marB="18288">
                    <a:solidFill>
                      <a:srgbClr val="3A2F1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919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Proposed metrics exist; leadership and distis have not committed</a:t>
                      </a:r>
                    </a:p>
                  </a:txBody>
                  <a:tcPr marL="54864" marR="36576" marT="22860" marB="18288">
                    <a:solidFill>
                      <a:srgbClr val="3A2F1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39312" y="5916168"/>
            <a:ext cx="7863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80" b="1">
                <a:solidFill>
                  <a:srgbClr val="FF9F1C"/>
                </a:solidFill>
                <a:latin typeface="Aptos"/>
              </a:defRPr>
            </a:pPr>
            <a:r>
              <a:t>Review decision: approve the joint Altera–Arrow–Macnica tiger team, owners, readiness dates and Q4 scorecard.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08 / SOLUTION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Altera solution arsenal: lead with demonstrable systems, not device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49300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54480"/>
            <a:ext cx="30906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9F1C"/>
                </a:solidFill>
                <a:latin typeface="Aptos"/>
              </a:defRPr>
            </a:pPr>
            <a:r>
              <a:t>ROBOTICS +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2996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02082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ROS Consolidated Robot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7860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56946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Drive-on-Chip motor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12724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11810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Drive-on-Chip with 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675887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66674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HPS TSN 3×2.5G SGMII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22452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21538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Sensor Fusion Platform for AMRs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77316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76402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Functional-safety flow / FSDP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5422392"/>
            <a:ext cx="3063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VERIFY: access • kit • owner • benchmark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59" y="1261872"/>
            <a:ext cx="349300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7" y="1554480"/>
            <a:ext cx="30906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B8A9"/>
                </a:solidFill>
                <a:latin typeface="Aptos"/>
              </a:defRPr>
            </a:pPr>
            <a:r>
              <a:t>CAMERA + EDGE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7" y="202996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3" y="202082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Holoscan Sensor Bridge: MIPI→10GbE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7" y="257860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303" y="256946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4Kp60 Multi-Sensor HDR Camera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312724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3" y="311810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4Kp30 Multi-Sensor Camera +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7" y="3675887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8303" y="366674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Smart Camera Demo Kit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7" y="422452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8303" y="421538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45+ Video &amp; Vision Processing 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7" y="477316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8303" y="476402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FPGA AI Suite + MIPI CSI-2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7" y="5422392"/>
            <a:ext cx="3063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VERIFY: access • kit • owner • benchmark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1261872"/>
            <a:ext cx="349300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8" y="1554480"/>
            <a:ext cx="30906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3A86FF"/>
                </a:solidFill>
                <a:latin typeface="Aptos"/>
              </a:defRPr>
            </a:pPr>
            <a:r>
              <a:t>PARTNER PLATFORMS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202996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202082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Arrow Eagle 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257860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256946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Macnica Sulphur Agilex 5 kit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312724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311810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Macnica MEP100 ST2110 SmartNIC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8" y="3675887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366674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Agilex 5 Modular / Premium kits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8" y="422452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344" y="421538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Critical Link vision modules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2168" y="4773168"/>
            <a:ext cx="2194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344" y="4764024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IntoPIX JPEG-XS ecosystem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2168" y="5422392"/>
            <a:ext cx="3063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VERIFY: access • kit • owner • benchmark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291072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20" b="0">
                <a:solidFill>
                  <a:srgbClr val="A8B2C7"/>
                </a:solidFill>
                <a:latin typeface="Aptos"/>
              </a:defRPr>
            </a:pPr>
            <a:r>
              <a:t>[R4], [R7], [R8], [R19], [R20]. Holoscan is NVIDIA technology integrated by Altera reference designs; solution access/maturity must be checked.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08 / SOLUTION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Solution readiness: every offer needs an owner, running kit and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07008"/>
          <a:ext cx="1110996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2057400"/>
                <a:gridCol w="1993392"/>
                <a:gridCol w="4983480"/>
                <a:gridCol w="594360"/>
              </a:tblGrid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Solution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Minimum owner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Platform / kit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Proof required before customer campaign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Ready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</a:tr>
              <a:tr h="543560"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ROS robot controller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Sahil + Robotics DFAE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Agilex 5 SoC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Sensor→actuator jitter + ROS 2 integration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□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543560"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Holoscan bridge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Camera/AI DFAE + Macnica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A5 Premium + MIPI + 10GbE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4K stream into NVIDIA Holoscan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□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543560"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4Kp60 HDR camera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Sahil + Macnica expert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A5 Modular + camera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ISP image quality, latency and power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□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543560"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4Kp30 camera + AI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AI DFAE + Arrow expert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A5 kit + customer model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Ingest→inference→display benchmark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□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543560"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Drive-on-Chip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Control DFAE + Arrow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A5 Modular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Motor-loop latency and integration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□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543560"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3×2.5G TSN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Industrial DFAE + Sahil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Agilex 5 SoC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Multi-node sync, jitter and topology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□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543560"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Sensor fusion / AMR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Robotics expert + Macnica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A5 + sensor set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Time-aligned multi-sensor pipeline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□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543560"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Smart camera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Critical Link + joint team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Partner kit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Customer model + production BOM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3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□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291072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20" b="0">
                <a:solidFill>
                  <a:srgbClr val="A8B2C7"/>
                </a:solidFill>
                <a:latin typeface="Aptos"/>
              </a:defRPr>
            </a:pPr>
            <a:r>
              <a:t>Readiness means the team can run the demo, explain limitations, reproduce results and support an evaluation. A web page alone is not readiness.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09 / JOINT 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This is not a one-person job: form one market-penetration tiger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49300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2704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0B8A9"/>
                </a:solidFill>
                <a:latin typeface="Aptos"/>
              </a:defRPr>
            </a:pPr>
            <a:r>
              <a:t>ALTERA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024" y="1545336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750" b="1">
                <a:solidFill>
                  <a:srgbClr val="00B8A9"/>
                </a:solidFill>
                <a:latin typeface="Aptos"/>
              </a:defRPr>
            </a:pPr>
            <a:r>
              <a:t>NAMED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38528"/>
            <a:ext cx="30906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7FAFC"/>
                </a:solidFill>
                <a:latin typeface="Aptos"/>
              </a:defRPr>
            </a:pPr>
            <a:r>
              <a:t>Sahil — program + solution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697480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688336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Own segment strategy and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282696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273552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Coordinate Robotics, AI/Vision, TSN/FuSa DFAEs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867912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858768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Define benchmark method and technical red 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453128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00B8A9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443984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Escalate product/IP/roadmap gaps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1261872"/>
            <a:ext cx="349300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7" y="152704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9F1C"/>
                </a:solidFill>
                <a:latin typeface="Aptos"/>
              </a:defRPr>
            </a:pPr>
            <a:r>
              <a:t>ARROW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1545336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750" b="1">
                <a:solidFill>
                  <a:srgbClr val="FF9F1C"/>
                </a:solidFill>
                <a:latin typeface="Aptos"/>
              </a:defRPr>
            </a:pPr>
            <a:r>
              <a:t>DUE 05 AUG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1938528"/>
            <a:ext cx="30906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7FAFC"/>
                </a:solidFill>
                <a:latin typeface="Aptos"/>
              </a:defRPr>
            </a:pPr>
            <a:r>
              <a:t>[Name required] — joint specialist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7" y="2697480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3" y="2688336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Robotics/AI/camera technical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7" y="3282696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8303" y="3273552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Own Arrow account map and opportunity 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7" y="3867912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3" y="3858768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Maintain Eagle/A5 kits, samples and logistics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7" y="4453128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FF9F1C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303" y="4443984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Run workshops and CRM hygiene with Sales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1261872"/>
            <a:ext cx="349300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152704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3A86FF"/>
                </a:solidFill>
                <a:latin typeface="Aptos"/>
              </a:defRPr>
            </a:pPr>
            <a:r>
              <a:t>MACNICA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6104" y="1545336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750" b="1">
                <a:solidFill>
                  <a:srgbClr val="3A86FF"/>
                </a:solidFill>
                <a:latin typeface="Aptos"/>
              </a:defRPr>
            </a:pPr>
            <a:r>
              <a:t>DUE 05 AUG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1938528"/>
            <a:ext cx="30906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7FAFC"/>
                </a:solidFill>
                <a:latin typeface="Aptos"/>
              </a:defRPr>
            </a:pPr>
            <a:r>
              <a:t>[Name required] — joint specialist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2697480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2688336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Robotics/AI/camera technical coverage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3282696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3273552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Own Macnica account map and opportunity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3867912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3858768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Bring Sulphur, MEP100 and video ecosystem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4453128"/>
            <a:ext cx="201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3A86FF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4443984"/>
            <a:ext cx="27614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19" b="1">
                <a:solidFill>
                  <a:srgbClr val="DDE6F3"/>
                </a:solidFill>
                <a:latin typeface="Aptos"/>
              </a:defRPr>
            </a:pPr>
            <a:r>
              <a:t>Run evaluations and close integration gaps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888736"/>
            <a:ext cx="10881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FF9F1C"/>
                </a:solidFill>
                <a:latin typeface="Aptos"/>
              </a:defRPr>
            </a:pPr>
            <a:r>
              <a:t>Minimum formation rule: one named robotics/AI/camera-capable specialist from each organization, backed by Altera specialist DFAEs.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09 / JOINT 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Joint market penetration: ready → target → prove → convert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371600" cy="67665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344168"/>
            <a:ext cx="1024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1">
                <a:solidFill>
                  <a:srgbClr val="A8B2C7"/>
                </a:solidFill>
                <a:latin typeface="Aptos"/>
              </a:defRPr>
            </a:pPr>
            <a:r>
              <a:t>BY 05 AUG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241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F5A5F"/>
                </a:solidFill>
                <a:latin typeface="Aptos"/>
              </a:defRPr>
            </a:pPr>
            <a:r>
              <a:t>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1234440"/>
            <a:ext cx="9555480" cy="676656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62456"/>
            <a:ext cx="9006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40" b="1">
                <a:solidFill>
                  <a:srgbClr val="F7FAFC"/>
                </a:solidFill>
                <a:latin typeface="Aptos"/>
              </a:defRPr>
            </a:pPr>
            <a:r>
              <a:t>Name Arrow + Macnica specialists; approve charter, segment roles and weekly cadence.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30552"/>
            <a:ext cx="1371600" cy="67665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240280"/>
            <a:ext cx="1024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1">
                <a:solidFill>
                  <a:srgbClr val="A8B2C7"/>
                </a:solidFill>
                <a:latin typeface="Aptos"/>
              </a:defRPr>
            </a:pPr>
            <a:r>
              <a:t>BY 14 AUG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468880"/>
            <a:ext cx="10241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2130552"/>
            <a:ext cx="9555480" cy="676656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2258568"/>
            <a:ext cx="9006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40" b="1">
                <a:solidFill>
                  <a:srgbClr val="F7FAFC"/>
                </a:solidFill>
                <a:latin typeface="Aptos"/>
              </a:defRPr>
            </a:pPr>
            <a:r>
              <a:t>Run internal enablement; verify solution access; establish ≥1 working robotics and ≥1 camera/AI demo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26664"/>
            <a:ext cx="1371600" cy="67665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136392"/>
            <a:ext cx="1024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1">
                <a:solidFill>
                  <a:srgbClr val="A8B2C7"/>
                </a:solidFill>
                <a:latin typeface="Aptos"/>
              </a:defRPr>
            </a:pPr>
            <a:r>
              <a:t>BY 31 AUG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10241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3A86FF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3026664"/>
            <a:ext cx="9555480" cy="676656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3154680"/>
            <a:ext cx="9006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40" b="1">
                <a:solidFill>
                  <a:srgbClr val="F7FAFC"/>
                </a:solidFill>
                <a:latin typeface="Aptos"/>
              </a:defRPr>
            </a:pPr>
            <a:r>
              <a:t>Build 30-account map: 15 Arrow + 15 Macnica; rank pains, installed competition and sponsor.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22776"/>
            <a:ext cx="1371600" cy="67665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032504"/>
            <a:ext cx="1024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1">
                <a:solidFill>
                  <a:srgbClr val="A8B2C7"/>
                </a:solidFill>
                <a:latin typeface="Aptos"/>
              </a:defRPr>
            </a:pPr>
            <a:r>
              <a:t>SEP–OCT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4261104"/>
            <a:ext cx="10241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B8A9"/>
                </a:solidFill>
                <a:latin typeface="Aptos"/>
              </a:defRPr>
            </a:pPr>
            <a:r>
              <a:t>ENGAGE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3922776"/>
            <a:ext cx="9555480" cy="676656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050791"/>
            <a:ext cx="9006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40" b="1">
                <a:solidFill>
                  <a:srgbClr val="F7FAFC"/>
                </a:solidFill>
                <a:latin typeface="Aptos"/>
              </a:defRPr>
            </a:pPr>
            <a:r>
              <a:t>12 customer workshops; 8 benchmark/evaluation starts; joint Sales–FAE–disti follow-up in 48 hours.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1371600" cy="67665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928616"/>
            <a:ext cx="1024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1">
                <a:solidFill>
                  <a:srgbClr val="A8B2C7"/>
                </a:solidFill>
                <a:latin typeface="Aptos"/>
              </a:defRPr>
            </a:pPr>
            <a:r>
              <a:t>Q4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5157216"/>
            <a:ext cx="10241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3DDC97"/>
                </a:solidFill>
                <a:latin typeface="Aptos"/>
              </a:defRPr>
            </a:pPr>
            <a:r>
              <a:t>CONVERT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400" y="4818888"/>
            <a:ext cx="9555480" cy="676656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4946903"/>
            <a:ext cx="9006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40" b="1">
                <a:solidFill>
                  <a:srgbClr val="F7FAFC"/>
                </a:solidFill>
                <a:latin typeface="Aptos"/>
              </a:defRPr>
            </a:pPr>
            <a:r>
              <a:t>Proposed target: 6 qualified opportunities, 3 Develop/Design-stage plays and 2 DWINs.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06440"/>
            <a:ext cx="11109960" cy="347472"/>
          </a:xfrm>
          <a:prstGeom prst="roundRect">
            <a:avLst/>
          </a:prstGeom>
          <a:solidFill>
            <a:srgbClr val="2B1D2F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870448"/>
            <a:ext cx="10625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80" b="1">
                <a:solidFill>
                  <a:srgbClr val="FF9F1C"/>
                </a:solidFill>
                <a:latin typeface="Aptos"/>
              </a:defRPr>
            </a:pPr>
            <a:r>
              <a:t>These are proposed critical-review commitments—not achieved results. Leadership, Arrow and Macnica must accept or reset them in the meeting.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10 / MARKET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Market review: growth is real, but proof-of-value wins 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49300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36192"/>
            <a:ext cx="30906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Aptos"/>
              </a:defRPr>
            </a:pPr>
            <a:r>
              <a:t>ROBOTICS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47672"/>
            <a:ext cx="309067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900" b="1">
                <a:solidFill>
                  <a:srgbClr val="F7FAFC"/>
                </a:solidFill>
                <a:latin typeface="Aptos"/>
              </a:defRPr>
            </a:pPr>
            <a:r>
              <a:t>9,100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87168"/>
            <a:ext cx="309067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DDE6F3"/>
                </a:solidFill>
                <a:latin typeface="Aptos"/>
              </a:defRPr>
            </a:pPr>
            <a:r>
              <a:t>robots installed in India in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108960"/>
            <a:ext cx="309067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A8B2C7"/>
                </a:solidFill>
                <a:latin typeface="Aptos"/>
              </a:defRPr>
            </a:pPr>
            <a:r>
              <a:t>+7% YoY • India ranked #6 • automotive = 45% of installs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950208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9F1C"/>
                </a:solidFill>
                <a:latin typeface="Aptos"/>
              </a:defRPr>
            </a:pPr>
            <a:r>
              <a:t>COMMERCIAL 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261104"/>
            <a:ext cx="3090672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Prioritize automotive suppliers, machine builders and control platforms; sell deterministic integration, not an FPGA.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261872"/>
            <a:ext cx="349300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1536192"/>
            <a:ext cx="30906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B8A9"/>
                </a:solidFill>
                <a:latin typeface="Aptos"/>
              </a:defRPr>
            </a:pPr>
            <a:r>
              <a:t>VIDEO +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1947672"/>
            <a:ext cx="309067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900" b="1">
                <a:solidFill>
                  <a:srgbClr val="F7FAFC"/>
                </a:solidFill>
                <a:latin typeface="Aptos"/>
              </a:defRPr>
            </a:pPr>
            <a:r>
              <a:t>$5.7B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7" y="2487168"/>
            <a:ext cx="309067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DDE6F3"/>
                </a:solidFill>
                <a:latin typeface="Aptos"/>
              </a:defRPr>
            </a:pPr>
            <a:r>
              <a:t>2025 global machine-vision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7" y="3108960"/>
            <a:ext cx="309067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A8B2C7"/>
                </a:solidFill>
                <a:latin typeface="Aptos"/>
              </a:defRPr>
            </a:pPr>
            <a:r>
              <a:t>+1.5% after a 3.9% decline in 2024 • price pressure remains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3950208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00B8A9"/>
                </a:solidFill>
                <a:latin typeface="Aptos"/>
              </a:defRPr>
            </a:pPr>
            <a:r>
              <a:t>COMMERCIAL IMPLICATION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4261104"/>
            <a:ext cx="3090672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Lead with workload benchmarks, integration time and sensor flexibility; generic camera growth is not enough.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261872"/>
            <a:ext cx="349300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1536192"/>
            <a:ext cx="309067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3A86FF"/>
                </a:solidFill>
                <a:latin typeface="Aptos"/>
              </a:defRPr>
            </a:pPr>
            <a:r>
              <a:t>INDUSTRIAL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1947672"/>
            <a:ext cx="309067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900" b="1">
                <a:solidFill>
                  <a:srgbClr val="F7FAFC"/>
                </a:solidFill>
                <a:latin typeface="Aptos"/>
              </a:defRPr>
            </a:pPr>
            <a:r>
              <a:t>94%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2487168"/>
            <a:ext cx="309067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DDE6F3"/>
                </a:solidFill>
                <a:latin typeface="Aptos"/>
              </a:defRPr>
            </a:pPr>
            <a:r>
              <a:t>of APAC manufacturers investing/planning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3108960"/>
            <a:ext cx="309067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A8B2C7"/>
                </a:solidFill>
                <a:latin typeface="Aptos"/>
              </a:defRPr>
            </a:pPr>
            <a:r>
              <a:t>quality control 47% • process optimization 43% • cyber is critical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3950208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3A86FF"/>
                </a:solidFill>
                <a:latin typeface="Aptos"/>
              </a:defRPr>
            </a:pPr>
            <a:r>
              <a:t>COMMERCIAL IMPLICATION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4261104"/>
            <a:ext cx="3090672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Package edge AI with control, networking, safety and security around a measurable factory KPI.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291072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20" b="0">
                <a:solidFill>
                  <a:srgbClr val="A8B2C7"/>
                </a:solidFill>
                <a:latin typeface="Aptos"/>
              </a:defRPr>
            </a:pPr>
            <a:r>
              <a:t>[R1] IFR World Robotics 2025  •  [R3] Interact Analysis, Jun 2025  •  [R2] Rockwell APAC Smart Manufacturing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10 / MARKET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Robotics: India is scaling; own the deterministic control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657600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FF9F1C"/>
                </a:solidFill>
                <a:latin typeface="Aptos"/>
              </a:defRPr>
            </a:pPr>
            <a:r>
              <a:t>MARKET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3246120" cy="33101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7FAFC"/>
                </a:solidFill>
                <a:latin typeface="Aptos"/>
              </a:defRPr>
            </a:pPr>
            <a:r>
              <a:t>542K global robot installs in 2024</a:t>
            </a:r>
          </a:p>
          <a:p>
            <a:pPr>
              <a:spcAft>
                <a:spcPts val="500"/>
              </a:spcAft>
              <a:defRPr sz="1200" b="0">
                <a:solidFill>
                  <a:srgbClr val="DDE6F3"/>
                </a:solidFill>
                <a:latin typeface="Aptos"/>
              </a:defRPr>
            </a:pPr>
            <a:r>
              <a:t>4.664M operational stock; +9% YoY</a:t>
            </a:r>
          </a:p>
          <a:p>
            <a:pPr>
              <a:spcAft>
                <a:spcPts val="500"/>
              </a:spcAft>
              <a:defRPr sz="1500" b="1">
                <a:solidFill>
                  <a:srgbClr val="F7FAFC"/>
                </a:solidFill>
                <a:latin typeface="Aptos"/>
              </a:defRPr>
            </a:pPr>
            <a:r>
              <a:t>India: 9.1K installs, +7%, #6 globally</a:t>
            </a:r>
          </a:p>
          <a:p>
            <a:pPr>
              <a:spcAft>
                <a:spcPts val="500"/>
              </a:spcAft>
              <a:defRPr sz="1200" b="0">
                <a:solidFill>
                  <a:srgbClr val="DDE6F3"/>
                </a:solidFill>
                <a:latin typeface="Aptos"/>
              </a:defRPr>
            </a:pPr>
            <a:r>
              <a:t>45% of India installs were automotive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IFR forecasts 575K global installs in 2025 and &gt;700K by 2028.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61872"/>
            <a:ext cx="3456432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54480"/>
            <a:ext cx="2999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COMPETITIVE BATTLEFIELD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938528"/>
            <a:ext cx="3017520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9F1C"/>
                </a:solidFill>
                <a:latin typeface="Aptos"/>
              </a:defRPr>
            </a:pPr>
            <a:r>
              <a:t>AMD Xilinx strength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Kria KR260: production SOM path, native ROS 2 and Kria Robotics Stack.</a:t>
            </a:r>
          </a:p>
          <a:p>
            <a:pPr>
              <a:spcAft>
                <a:spcPts val="500"/>
              </a:spcAft>
              <a:defRPr sz="1000" b="1">
                <a:solidFill>
                  <a:srgbClr val="00B8A9"/>
                </a:solidFill>
                <a:latin typeface="Aptos"/>
              </a:defRPr>
            </a:pPr>
            <a:r>
              <a:t>Altera proof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ROS 2 controller, Drive-on-Chip, safety, sensor fusion and 3×2.5G TSN reference designs.</a:t>
            </a:r>
          </a:p>
          <a:p>
            <a:pPr>
              <a:spcAft>
                <a:spcPts val="500"/>
              </a:spcAft>
              <a:defRPr sz="1000" b="1">
                <a:solidFill>
                  <a:srgbClr val="3A86FF"/>
                </a:solidFill>
                <a:latin typeface="Aptos"/>
              </a:defRPr>
            </a:pPr>
            <a:r>
              <a:t>Win condition</a:t>
            </a:r>
          </a:p>
          <a:p>
            <a:pPr>
              <a:spcAft>
                <a:spcPts val="500"/>
              </a:spcAft>
              <a:defRPr sz="1200" b="1">
                <a:solidFill>
                  <a:srgbClr val="F7FAFC"/>
                </a:solidFill>
                <a:latin typeface="Aptos"/>
              </a:defRPr>
            </a:pPr>
            <a:r>
              <a:t>Demonstrate lower end-to-end jitter and fewer devices for the customer's exact control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261872"/>
            <a:ext cx="358444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554480"/>
            <a:ext cx="3127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3A86FF"/>
                </a:solidFill>
                <a:latin typeface="Aptos"/>
              </a:defRPr>
            </a:pPr>
            <a:r>
              <a:t>PROPOSED 2027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938528"/>
            <a:ext cx="3154680" cy="3456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A86FF"/>
                </a:solidFill>
                <a:latin typeface="Aptos"/>
              </a:defRPr>
            </a:pPr>
            <a:r>
              <a:t>Target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Robot OEMs, AMR makers, automotive suppliers and control-system integrators.</a:t>
            </a:r>
          </a:p>
          <a:p>
            <a:pPr>
              <a:spcAft>
                <a:spcPts val="500"/>
              </a:spcAft>
              <a:defRPr sz="1000" b="1">
                <a:solidFill>
                  <a:srgbClr val="3A86FF"/>
                </a:solidFill>
                <a:latin typeface="Aptos"/>
              </a:defRPr>
            </a:pPr>
            <a:r>
              <a:t>Offer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Sense→think→act workshop using Agilex 5 SoC, TSN and functional-safety architecture.</a:t>
            </a:r>
          </a:p>
          <a:p>
            <a:pPr>
              <a:spcAft>
                <a:spcPts val="500"/>
              </a:spcAft>
              <a:defRPr sz="1000" b="1">
                <a:solidFill>
                  <a:srgbClr val="3A86FF"/>
                </a:solidFill>
                <a:latin typeface="Aptos"/>
              </a:defRPr>
            </a:pPr>
            <a:r>
              <a:t>Proposed scorecard</a:t>
            </a:r>
          </a:p>
          <a:p>
            <a:pPr>
              <a:spcAft>
                <a:spcPts val="500"/>
              </a:spcAft>
              <a:defRPr sz="1200" b="1">
                <a:solidFill>
                  <a:srgbClr val="F7FAFC"/>
                </a:solidFill>
                <a:latin typeface="Aptos"/>
              </a:defRPr>
            </a:pPr>
            <a:r>
              <a:t>12 named accounts • 6 workshops • 3 evaluations • 2 qualified opportunities • 1 DWIN.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91072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20" b="0">
                <a:solidFill>
                  <a:srgbClr val="A8B2C7"/>
                </a:solidFill>
                <a:latin typeface="Aptos"/>
              </a:defRPr>
            </a:pPr>
            <a:r>
              <a:t>[R1] IFR World Robotics 2025  •  [R4] Altera Robotics Stack  •  [R5] Agilex 5  •  [R6] AMD Kria KR260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10 / MARKET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Video + vision: recovery is selective; benchmark the whole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657600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MARKET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3246120" cy="3337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7FAFC"/>
                </a:solidFill>
                <a:latin typeface="Aptos"/>
              </a:defRPr>
            </a:pPr>
            <a:r>
              <a:t>2024 global market: −3.9%</a:t>
            </a:r>
          </a:p>
          <a:p>
            <a:pPr>
              <a:spcAft>
                <a:spcPts val="500"/>
              </a:spcAft>
              <a:defRPr sz="1200" b="0">
                <a:solidFill>
                  <a:srgbClr val="DDE6F3"/>
                </a:solidFill>
                <a:latin typeface="Aptos"/>
              </a:defRPr>
            </a:pPr>
            <a:r>
              <a:t>Inventory correction and manufacturing softness</a:t>
            </a:r>
          </a:p>
          <a:p>
            <a:pPr>
              <a:spcAft>
                <a:spcPts val="500"/>
              </a:spcAft>
              <a:defRPr sz="1600" b="1">
                <a:solidFill>
                  <a:srgbClr val="F7FAFC"/>
                </a:solidFill>
                <a:latin typeface="Aptos"/>
              </a:defRPr>
            </a:pPr>
            <a:r>
              <a:t>2025 forecast: +1.5% to $5.7B</a:t>
            </a:r>
          </a:p>
          <a:p>
            <a:pPr>
              <a:spcAft>
                <a:spcPts val="500"/>
              </a:spcAft>
              <a:defRPr sz="1200" b="0">
                <a:solidFill>
                  <a:srgbClr val="DDE6F3"/>
                </a:solidFill>
                <a:latin typeface="Aptos"/>
              </a:defRPr>
            </a:pPr>
            <a:r>
              <a:t>2028 forecast: $7B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Area-scan cameras fell 7.8%; APAC vendor price pressure makes undifferentiated hardware vulnerable.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61872"/>
            <a:ext cx="3456432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54480"/>
            <a:ext cx="2999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FF9F1C"/>
                </a:solidFill>
                <a:latin typeface="Aptos"/>
              </a:defRPr>
            </a:pPr>
            <a:r>
              <a:t>COMPETITIVE BATTLEFIELD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938528"/>
            <a:ext cx="3017520" cy="34015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9F1C"/>
                </a:solidFill>
                <a:latin typeface="Aptos"/>
              </a:defRPr>
            </a:pPr>
            <a:r>
              <a:t>AMD Xilinx strength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KV260 quick start, multi-camera interfaces, Vitis Vision/AI and Versal AI Engine scale.</a:t>
            </a:r>
          </a:p>
          <a:p>
            <a:pPr>
              <a:spcAft>
                <a:spcPts val="500"/>
              </a:spcAft>
              <a:defRPr sz="1000" b="1">
                <a:solidFill>
                  <a:srgbClr val="00B8A9"/>
                </a:solidFill>
                <a:latin typeface="Aptos"/>
              </a:defRPr>
            </a:pPr>
            <a:r>
              <a:t>Altera proof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45+ VVP IP cores, &gt;600 MHz claimed Fmax, 8K60+ optimization and FPGA AI Suite.</a:t>
            </a:r>
          </a:p>
          <a:p>
            <a:pPr>
              <a:spcAft>
                <a:spcPts val="500"/>
              </a:spcAft>
              <a:defRPr sz="1000" b="1">
                <a:solidFill>
                  <a:srgbClr val="3A86FF"/>
                </a:solidFill>
                <a:latin typeface="Aptos"/>
              </a:defRPr>
            </a:pPr>
            <a:r>
              <a:t>Win condition</a:t>
            </a:r>
          </a:p>
          <a:p>
            <a:pPr>
              <a:spcAft>
                <a:spcPts val="500"/>
              </a:spcAft>
              <a:defRPr sz="1200" b="1">
                <a:solidFill>
                  <a:srgbClr val="F7FAFC"/>
                </a:solidFill>
                <a:latin typeface="Aptos"/>
              </a:defRPr>
            </a:pPr>
            <a:r>
              <a:t>Customer-model benchmark: ingest + ISP + inference + output latency, power and engineering weeks.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261872"/>
            <a:ext cx="358444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554480"/>
            <a:ext cx="3127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3A86FF"/>
                </a:solidFill>
                <a:latin typeface="Aptos"/>
              </a:defRPr>
            </a:pPr>
            <a:r>
              <a:t>PROPOSED 2027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938528"/>
            <a:ext cx="3154680" cy="3456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A86FF"/>
                </a:solidFill>
                <a:latin typeface="Aptos"/>
              </a:defRPr>
            </a:pPr>
            <a:r>
              <a:t>Named beachheads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Outdu tracking/analytics; GE + Philips medical imaging; industrial inspection.</a:t>
            </a:r>
          </a:p>
          <a:p>
            <a:pPr>
              <a:spcAft>
                <a:spcPts val="500"/>
              </a:spcAft>
              <a:defRPr sz="1000" b="1">
                <a:solidFill>
                  <a:srgbClr val="3A86FF"/>
                </a:solidFill>
                <a:latin typeface="Aptos"/>
              </a:defRPr>
            </a:pPr>
            <a:r>
              <a:t>Offer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Bring-your-model vision benchmark day with two sensor interfaces and a production BOM.</a:t>
            </a:r>
          </a:p>
          <a:p>
            <a:pPr>
              <a:spcAft>
                <a:spcPts val="500"/>
              </a:spcAft>
              <a:defRPr sz="1000" b="1">
                <a:solidFill>
                  <a:srgbClr val="3A86FF"/>
                </a:solidFill>
                <a:latin typeface="Aptos"/>
              </a:defRPr>
            </a:pPr>
            <a:r>
              <a:t>Proposed scorecard</a:t>
            </a:r>
          </a:p>
          <a:p>
            <a:pPr>
              <a:spcAft>
                <a:spcPts val="500"/>
              </a:spcAft>
              <a:defRPr sz="1200" b="1">
                <a:solidFill>
                  <a:srgbClr val="F7FAFC"/>
                </a:solidFill>
                <a:latin typeface="Aptos"/>
              </a:defRPr>
            </a:pPr>
            <a:r>
              <a:t>8 accounts • 4 benchmarks • 3 evaluations • 2 qualified opportunities • 1 DWIN.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91072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20" b="0">
                <a:solidFill>
                  <a:srgbClr val="A8B2C7"/>
                </a:solidFill>
                <a:latin typeface="Aptos"/>
              </a:defRPr>
            </a:pPr>
            <a:r>
              <a:t>[R3] Interact Analysis  •  [R7] Altera VVP Suite  •  [R8] FPGA AI Suite  •  [R9] AMD KV260  •  [R10] Versal AI Edge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10 / MARKET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Industrial: AI spending converges with control, safety and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657600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3A86FF"/>
                </a:solidFill>
                <a:latin typeface="Aptos"/>
              </a:defRPr>
            </a:pPr>
            <a:r>
              <a:t>MARKET EVIDENCE — APAC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3246120" cy="3337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7FAFC"/>
                </a:solidFill>
                <a:latin typeface="Aptos"/>
              </a:defRPr>
            </a:pPr>
            <a:r>
              <a:t>94% investing / planning AI</a:t>
            </a:r>
          </a:p>
          <a:p>
            <a:pPr>
              <a:spcAft>
                <a:spcPts val="500"/>
              </a:spcAft>
              <a:defRPr sz="1200" b="0">
                <a:solidFill>
                  <a:srgbClr val="DDE6F3"/>
                </a:solidFill>
                <a:latin typeface="Aptos"/>
              </a:defRPr>
            </a:pPr>
            <a:r>
              <a:t>47%: quality control is top AI use case</a:t>
            </a:r>
          </a:p>
          <a:p>
            <a:pPr>
              <a:spcAft>
                <a:spcPts val="500"/>
              </a:spcAft>
              <a:defRPr sz="1600" b="1">
                <a:solidFill>
                  <a:srgbClr val="F7FAFC"/>
                </a:solidFill>
                <a:latin typeface="Aptos"/>
              </a:defRPr>
            </a:pPr>
            <a:r>
              <a:t>43%: process optimization</a:t>
            </a:r>
          </a:p>
          <a:p>
            <a:pPr>
              <a:spcAft>
                <a:spcPts val="500"/>
              </a:spcAft>
              <a:defRPr sz="1200" b="0">
                <a:solidFill>
                  <a:srgbClr val="DDE6F3"/>
                </a:solidFill>
                <a:latin typeface="Aptos"/>
              </a:defRPr>
            </a:pPr>
            <a:r>
              <a:t>95%: cyber standards important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The buying unit spans OT control, data, safety and security—not a single component owner.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61872"/>
            <a:ext cx="3456432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54480"/>
            <a:ext cx="2999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FF9F1C"/>
                </a:solidFill>
                <a:latin typeface="Aptos"/>
              </a:defRPr>
            </a:pPr>
            <a:r>
              <a:t>COMPETITIVE BATTLEFIELD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938528"/>
            <a:ext cx="3017520" cy="34015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9F1C"/>
                </a:solidFill>
                <a:latin typeface="Aptos"/>
              </a:defRPr>
            </a:pPr>
            <a:r>
              <a:t>Shared table stakes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AMD and Altera both offer TSN, industrial connectivity and certified safety flows.</a:t>
            </a:r>
          </a:p>
          <a:p>
            <a:pPr>
              <a:spcAft>
                <a:spcPts val="500"/>
              </a:spcAft>
              <a:defRPr sz="1000" b="1">
                <a:solidFill>
                  <a:srgbClr val="00B8A9"/>
                </a:solidFill>
                <a:latin typeface="Aptos"/>
              </a:defRPr>
            </a:pPr>
            <a:r>
              <a:t>Altera proof point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Agilex 5 SoC integrates three hardened 2.5G TSN MACs; Drive-on-Chip and FSDP support.</a:t>
            </a:r>
          </a:p>
          <a:p>
            <a:pPr>
              <a:spcAft>
                <a:spcPts val="500"/>
              </a:spcAft>
              <a:defRPr sz="1000" b="1">
                <a:solidFill>
                  <a:srgbClr val="3A86FF"/>
                </a:solidFill>
                <a:latin typeface="Aptos"/>
              </a:defRPr>
            </a:pPr>
            <a:r>
              <a:t>Win condition</a:t>
            </a:r>
          </a:p>
          <a:p>
            <a:pPr>
              <a:spcAft>
                <a:spcPts val="500"/>
              </a:spcAft>
              <a:defRPr sz="1200" b="1">
                <a:solidFill>
                  <a:srgbClr val="F7FAFC"/>
                </a:solidFill>
                <a:latin typeface="Aptos"/>
              </a:defRPr>
            </a:pPr>
            <a:r>
              <a:t>Quantify BOM consolidation, deterministic cycle time and certification work saved.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261872"/>
            <a:ext cx="3584448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554480"/>
            <a:ext cx="3127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PROPOSED 2027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938528"/>
            <a:ext cx="3154680" cy="3456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B8A9"/>
                </a:solidFill>
                <a:latin typeface="Aptos"/>
              </a:defRPr>
            </a:pPr>
            <a:r>
              <a:t>Named beachheads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Emerson controller; Honeywell automation; machine builders via Arrow/Macnica.</a:t>
            </a:r>
          </a:p>
          <a:p>
            <a:pPr>
              <a:spcAft>
                <a:spcPts val="500"/>
              </a:spcAft>
              <a:defRPr sz="1000" b="1">
                <a:solidFill>
                  <a:srgbClr val="00B8A9"/>
                </a:solidFill>
                <a:latin typeface="Aptos"/>
              </a:defRPr>
            </a:pPr>
            <a:r>
              <a:t>Offer</a:t>
            </a:r>
          </a:p>
          <a:p>
            <a:pPr>
              <a:spcAft>
                <a:spcPts val="500"/>
              </a:spcAft>
              <a:defRPr sz="1200" b="0">
                <a:solidFill>
                  <a:srgbClr val="F7FAFC"/>
                </a:solidFill>
                <a:latin typeface="Aptos"/>
              </a:defRPr>
            </a:pPr>
            <a:r>
              <a:t>Industrial platform clinic: TSN + PLC/control + safety + secure lifecycle.</a:t>
            </a:r>
          </a:p>
          <a:p>
            <a:pPr>
              <a:spcAft>
                <a:spcPts val="500"/>
              </a:spcAft>
              <a:defRPr sz="1000" b="1">
                <a:solidFill>
                  <a:srgbClr val="00B8A9"/>
                </a:solidFill>
                <a:latin typeface="Aptos"/>
              </a:defRPr>
            </a:pPr>
            <a:r>
              <a:t>Proposed scorecard</a:t>
            </a:r>
          </a:p>
          <a:p>
            <a:pPr>
              <a:spcAft>
                <a:spcPts val="500"/>
              </a:spcAft>
              <a:defRPr sz="1200" b="1">
                <a:solidFill>
                  <a:srgbClr val="F7FAFC"/>
                </a:solidFill>
                <a:latin typeface="Aptos"/>
              </a:defRPr>
            </a:pPr>
            <a:r>
              <a:t>15 accounts • 6 clinics • 4 evaluations • 3 qualified opportunities • 1 DWIN.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91072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20" b="0">
                <a:solidFill>
                  <a:srgbClr val="A8B2C7"/>
                </a:solidFill>
                <a:latin typeface="Aptos"/>
              </a:defRPr>
            </a:pPr>
            <a:r>
              <a:t>[R2] Rockwell APAC 2025  •  [R11–R15] Altera/AMD industrial networking and functional-safety sources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11 /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Competitive portfolio map: no single one-for-one device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099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017520"/>
                <a:gridCol w="3017520"/>
                <a:gridCol w="3840480"/>
              </a:tblGrid>
              <a:tr h="905256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Battlefield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Altera position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AMD Xilinx position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FAE comparison rule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Cost / I/O edge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Agilex 3 C: FPGA + optional dual A55 SoC, AI tensor DSP, MIPI, 12.5G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Spartan UltraScale+: high I/O, 16.3G, PCIe Gen4, hardened LPDDR; no processor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Compare package, I/O mix, BOM, power and required processor—not density labels.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Midrange embedded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Agilex 5 E: A76/A55 SoC options, 3×2.5G TSN, AI tensor blocks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Zynq UltraScale+ MPSoC / Kria K26: mature SOM and software ecosystem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Altera: consolidation + hard TSN. AMD: fast SOM/ROS path. Prove development effort.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AI / vision scale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Agilex 5 D/E + FPGA AI Suite + VVP; custom streaming data path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Versal AI Edge + AI Engines; Kria KV260 for fast vision evaluation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TOPS are not directly comparable. Benchmark the customer's model and full pipeline.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High-end adaptable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Agilex 7/9 families for high bandwidth, RF and complex acceleration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Versal Premium / AI Core / RF families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8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Treat as architecture-led pursuits; involve product-line DFAEs before device claims.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79592"/>
            <a:ext cx="10881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1">
                <a:solidFill>
                  <a:srgbClr val="FF9F1C"/>
                </a:solidFill>
                <a:latin typeface="Aptos"/>
              </a:defRPr>
            </a:pPr>
            <a:r>
              <a:t>Never compare LE vs logic-cell counts or headline TOPS as equivalent metrics; normalize the workload, precision, sparsity, clocks, power and tool 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91072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20" b="0">
                <a:solidFill>
                  <a:srgbClr val="A8B2C7"/>
                </a:solidFill>
                <a:latin typeface="Aptos"/>
              </a:defRPr>
            </a:pPr>
            <a:r>
              <a:t>[R5], [R8], [R10], [R16], [R17] — official vendor product pages; claims remain vendor-stated until customer benchmark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11 /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Altera vs AMD Xilinx: evidence-based battlecard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07008"/>
          <a:ext cx="11109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816352"/>
                <a:gridCol w="2816352"/>
                <a:gridCol w="4471416"/>
              </a:tblGrid>
              <a:tr h="679268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Criterion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Altera evidence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AMD Xilinx evidence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Implication / honest position</a:t>
                      </a:r>
                    </a:p>
                  </a:txBody>
                  <a:tcPr marL="54864" marR="36576" marT="27432" marB="18288">
                    <a:solidFill>
                      <a:srgbClr val="3A86FF"/>
                    </a:solidFill>
                  </a:tcPr>
                </a:tc>
              </a:tr>
              <a:tr h="679268"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Robotics SW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ROS 2 controller + Drive-on-Chip reference stack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KR260 + native ROS 2 + KRS + production K26 SOM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AMD advantage for software-first/SOM buyers; counter with deterministic consolidation proof.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679268"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Vision IP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45+ VVP cores; FPGA AI Suite; custom streaming fabric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Vitis Vision/AI; KV260; Versal AI Engines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Both credible. Win on measured end-to-end latency, power and engineering effort.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679268"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AI scale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Agilex 3/5/7 portfolio; vendor claims up to 152.6 INT8 TOPS on A5 D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Versal AI Edge vendor table: 5–202 dense INT8 TOPS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Do not rank by TOPS alone; architectures, devices and assumptions differ.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679268"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Industrial TSN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Agilex 5 SoC: three hardened 2.5G TSN MACs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100M/1G TSN LogiCORE; broader industrial protocol ecosystem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Lead with integration/BOM if hard TSN fits; validate exact protocol and topology.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  <a:tr h="679268"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Functional safety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TÜV-reviewed FSDP/methodology; stated suitability up to SIL3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TÜV SÜD-certified flows; IEC 61508 / ISO 13849 support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Table stakes for both. Compare exact device/tool/IP certificate scope.</a:t>
                      </a:r>
                    </a:p>
                  </a:txBody>
                  <a:tcPr marL="54864" marR="36576" marT="22860" marB="18288">
                    <a:solidFill>
                      <a:srgbClr val="111C3A"/>
                    </a:solidFill>
                  </a:tcPr>
                </a:tc>
              </a:tr>
              <a:tr h="679272"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Cost / I/O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Agilex 3: SoC option, MIPI, AI tensor DSP, 12.5G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Spartan UltraScale+: up to 572 I/O, 16.3G, PCIe Gen4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760">
                          <a:solidFill>
                            <a:srgbClr val="F7FAFC"/>
                          </a:solidFill>
                          <a:latin typeface="Aptos"/>
                        </a:defRPr>
                      </a:pPr>
                      <a:r>
                        <a:t>Use customer pinout + board-cost study. Neither wins every configuration.</a:t>
                      </a:r>
                    </a:p>
                  </a:txBody>
                  <a:tcPr marL="54864" marR="36576" marT="22860" marB="18288">
                    <a:solidFill>
                      <a:srgbClr val="15244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291072"/>
            <a:ext cx="10972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20" b="0">
                <a:solidFill>
                  <a:srgbClr val="A8B2C7"/>
                </a:solidFill>
                <a:latin typeface="Aptos"/>
              </a:defRPr>
            </a:pPr>
            <a:r>
              <a:t>[R4–R18] Official vendor sources. “Advantage” statements are sales assessments, not third-party benchmark conclusions.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11 /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How to win against AMD Xilinx: replace claims with customer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1847088" cy="65836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44751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Aptos"/>
              </a:defRPr>
            </a:pPr>
            <a:r>
              <a:t>1  DISCOVER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261872"/>
            <a:ext cx="9098280" cy="658368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389888"/>
            <a:ext cx="8613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Installed device/tool flow? Decision owner? Workload? Pain: latency, power, I/O, BOM, safety or schedule?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39"/>
            <a:ext cx="1847088" cy="65836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31720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F5A5F"/>
                </a:solidFill>
                <a:latin typeface="Aptos"/>
              </a:defRPr>
            </a:pPr>
            <a:r>
              <a:t>2 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148839"/>
            <a:ext cx="9098280" cy="658368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2276856"/>
            <a:ext cx="8613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Capture AMD reference: exact device/board, tool version, model precision, interfaces, clocks and measured power.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35808"/>
            <a:ext cx="1847088" cy="65836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218688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B8A9"/>
                </a:solidFill>
                <a:latin typeface="Aptos"/>
              </a:defRPr>
            </a:pPr>
            <a:r>
              <a:t>3  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035808"/>
            <a:ext cx="9098280" cy="658368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3163824"/>
            <a:ext cx="8613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Run the same workload on Altera; publish reproducible scripts, resource use, latency distribution, power and BOM.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22776"/>
            <a:ext cx="1847088" cy="65836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105656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3A86FF"/>
                </a:solidFill>
                <a:latin typeface="Aptos"/>
              </a:defRPr>
            </a:pPr>
            <a:r>
              <a:t>4  DE-RISK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922776"/>
            <a:ext cx="9098280" cy="658368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4050791"/>
            <a:ext cx="8613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Close IP gaps, migration effort, safety scope, supply/lifecycle and support plan with named DFAEs.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09744"/>
            <a:ext cx="1847088" cy="65836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992624"/>
            <a:ext cx="1444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3DDC97"/>
                </a:solidFill>
                <a:latin typeface="Aptos"/>
              </a:defRPr>
            </a:pPr>
            <a:r>
              <a:t>5  COMMERCIALIZE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4600" y="4809744"/>
            <a:ext cx="9098280" cy="658368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1488" y="4937759"/>
            <a:ext cx="86136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Convert evaluation success into architecture freeze, DWIN evidence and production forecast.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33872"/>
            <a:ext cx="11109960" cy="320040"/>
          </a:xfrm>
          <a:prstGeom prst="roundRect">
            <a:avLst/>
          </a:prstGeom>
          <a:solidFill>
            <a:srgbClr val="2B1D2F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879592"/>
            <a:ext cx="10625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FF9F1C"/>
                </a:solidFill>
                <a:latin typeface="Aptos"/>
              </a:defRPr>
            </a:pPr>
            <a:r>
              <a:t>Red line: do not use vendor headline TOPS, power or performance claims as an apples-to-apples result without reproducing the workload.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12 / TEAM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DFAE + ecosystem engagement: attach expertise to stage exits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2578608" cy="239572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09344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F5A5F"/>
                </a:solidFill>
                <a:latin typeface="Aptos"/>
              </a:defRPr>
            </a:pPr>
            <a: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93392"/>
            <a:ext cx="224942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1">
                <a:solidFill>
                  <a:srgbClr val="F7FAFC"/>
                </a:solidFill>
                <a:latin typeface="Aptos"/>
              </a:defRPr>
            </a:pPr>
            <a:r>
              <a:t>Sales + FAE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87168"/>
            <a:ext cx="2249424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DDE6F3"/>
                </a:solidFill>
                <a:latin typeface="Aptos"/>
              </a:defRPr>
            </a:pPr>
            <a:r>
              <a:t>Sponsor, use case, value, budget and decision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353312"/>
            <a:ext cx="2578608" cy="239572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609344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993392"/>
            <a:ext cx="224942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1">
                <a:solidFill>
                  <a:srgbClr val="F7FAFC"/>
                </a:solidFill>
                <a:latin typeface="Aptos"/>
              </a:defRPr>
            </a:pPr>
            <a:r>
              <a:t>FAE + specialist DFAE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487168"/>
            <a:ext cx="2249424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DDE6F3"/>
                </a:solidFill>
                <a:latin typeface="Aptos"/>
              </a:defRPr>
            </a:pPr>
            <a:r>
              <a:t>Block diagram, device fit, IP/tools and risk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353312"/>
            <a:ext cx="2578608" cy="239572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609344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3A86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1993392"/>
            <a:ext cx="224942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1">
                <a:solidFill>
                  <a:srgbClr val="F7FAFC"/>
                </a:solidFill>
                <a:latin typeface="Aptos"/>
              </a:defRPr>
            </a:pPr>
            <a:r>
              <a:t>Customer + FAE + DFAE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487168"/>
            <a:ext cx="2249424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DDE6F3"/>
                </a:solidFill>
                <a:latin typeface="Aptos"/>
              </a:defRPr>
            </a:pPr>
            <a:r>
              <a:t>Evaluation results, issue closure and design-freeze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1353312"/>
            <a:ext cx="2578608" cy="239572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1609344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3DDC97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1993392"/>
            <a:ext cx="224942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1">
                <a:solidFill>
                  <a:srgbClr val="F7FAFC"/>
                </a:solidFill>
                <a:latin typeface="Aptos"/>
              </a:defRPr>
            </a:pPr>
            <a:r>
              <a:t>Sales + FAE +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487168"/>
            <a:ext cx="2249424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DDE6F3"/>
                </a:solidFill>
                <a:latin typeface="Aptos"/>
              </a:defRPr>
            </a:pPr>
            <a:r>
              <a:t>DW evidence, forecast, supply path and production handoff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41648"/>
            <a:ext cx="11109960" cy="1508760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315968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WEEKLY OPERATING CADENCE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297680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MON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572000"/>
            <a:ext cx="187451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7FAFC"/>
                </a:solidFill>
                <a:latin typeface="Aptos"/>
              </a:defRPr>
            </a:pPr>
            <a:r>
              <a:t>Top-5 stage/gap inspection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297680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WED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572000"/>
            <a:ext cx="187451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7FAFC"/>
                </a:solidFill>
                <a:latin typeface="Aptos"/>
              </a:defRPr>
            </a:pPr>
            <a:r>
              <a:t>Customer/DFAE action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297680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FRI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72000"/>
            <a:ext cx="187451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7FAFC"/>
                </a:solidFill>
                <a:latin typeface="Aptos"/>
              </a:defRPr>
            </a:pPr>
            <a:r>
              <a:t>Evidence + CRM hygiene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297680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A8B2C7"/>
                </a:solidFill>
                <a:latin typeface="Aptos"/>
              </a:defRPr>
            </a:pPr>
            <a:r>
              <a:t>MONTH-END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572000"/>
            <a:ext cx="187451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F7FAFC"/>
                </a:solidFill>
                <a:latin typeface="Aptos"/>
              </a:defRPr>
            </a:pPr>
            <a:r>
              <a:t>Pipeline creation + conversion scorecard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13 /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Close the review with owners, evidence and missing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6675120" cy="4526280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54480"/>
            <a:ext cx="6172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B8A9"/>
                </a:solidFill>
                <a:latin typeface="Aptos"/>
              </a:defRPr>
            </a:pPr>
            <a:r>
              <a:t>PROPOSED COMMITMENTS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99339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F9F1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93392"/>
            <a:ext cx="5577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7FAFC"/>
                </a:solidFill>
                <a:latin typeface="Aptos"/>
              </a:defRPr>
            </a:pPr>
            <a:r>
              <a:t>Name next-stage evidence and due date for every top-5 opportunity.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88336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F9F1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688336"/>
            <a:ext cx="5577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7FAFC"/>
                </a:solidFill>
                <a:latin typeface="Aptos"/>
              </a:defRPr>
            </a:pPr>
            <a:r>
              <a:t>Qualify Weather Radar and CPU Interface Card from 0% or remove value from the active forecast.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38328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F9F1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383280"/>
            <a:ext cx="5577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7FAFC"/>
                </a:solidFill>
                <a:latin typeface="Aptos"/>
              </a:defRPr>
            </a:pPr>
            <a:r>
              <a:t>Name one Arrow and one Macnica robotics/AI/camera specialist by 05 Aug; verify solution readiness by 14 Aug.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078224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F9F1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078224"/>
            <a:ext cx="5577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7FAFC"/>
                </a:solidFill>
                <a:latin typeface="Aptos"/>
              </a:defRPr>
            </a:pPr>
            <a:r>
              <a:t>Publish a 30-account Arrow + Macnica map and create the 15th strategic opportunity.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77316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F9F1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773168"/>
            <a:ext cx="5577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7FAFC"/>
                </a:solidFill>
                <a:latin typeface="Aptos"/>
              </a:defRPr>
            </a:pPr>
            <a:r>
              <a:t>Run three joint benchmark-led campaigns and inspect workshops, evaluations, qualified pipeline and DWINs weekly.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261872"/>
            <a:ext cx="4206240" cy="452628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554480"/>
            <a:ext cx="3703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FF5A5F"/>
                </a:solidFill>
                <a:latin typeface="Aptos"/>
              </a:defRPr>
            </a:pPr>
            <a:r>
              <a:t>INPUTS TO COMPLETE BEFORE PRESENTING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99339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Aptos"/>
              </a:defRPr>
            </a:pPr>
            <a:r>
              <a:t>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1993392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2026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441448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Aptos"/>
              </a:defRPr>
            </a:pPr>
            <a:r>
              <a:t>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2441448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YTD actual / achieved DWINs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889504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Aptos"/>
              </a:defRPr>
            </a:pPr>
            <a:r>
              <a:t>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889504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Gap-closure value and 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337560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Aptos"/>
              </a:defRPr>
            </a:pPr>
            <a:r>
              <a:t>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3337560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Support activity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785616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Aptos"/>
              </a:defRPr>
            </a:pPr>
            <a:r>
              <a:t>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3785616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Customer market-share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23367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Aptos"/>
              </a:defRPr>
            </a:pPr>
            <a:r>
              <a:t>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4233672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Arrow + Macnica specialist names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681728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Aptos"/>
              </a:defRPr>
            </a:pPr>
            <a:r>
              <a:t>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4681728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7FAFC"/>
                </a:solidFill>
                <a:latin typeface="Aptos"/>
              </a:defRPr>
            </a:pPr>
            <a:r>
              <a:t>Named solution DFAEs / kit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5266944"/>
            <a:ext cx="3611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1">
                <a:solidFill>
                  <a:srgbClr val="00B8A9"/>
                </a:solidFill>
                <a:latin typeface="Aptos"/>
              </a:defRPr>
            </a:pPr>
            <a:r>
              <a:t>No invented numbers.</a:t>
            </a:r>
            <a:br/>
            <a:r>
              <a:t>Fill, validate, commit.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Appendix: scope, definitions and data-quality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43584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243584"/>
            <a:ext cx="9281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7FAFC"/>
                </a:solidFill>
                <a:latin typeface="Aptos"/>
              </a:defRPr>
            </a:pPr>
            <a:r>
              <a:t>Rows where Technical Owner = Sahil Patni; 20 product lines consolidated by Opportunity ID into 14 opportunities.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PEAK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01952"/>
            <a:ext cx="9281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7FAFC"/>
                </a:solidFill>
                <a:latin typeface="Aptos"/>
              </a:defRPr>
            </a:pPr>
            <a:r>
              <a:t>Product-line Peak Value summed within each Opportunity ID. Source file does not encode currency.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WEIGHTED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60320"/>
            <a:ext cx="9281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7FAFC"/>
                </a:solidFill>
                <a:latin typeface="Aptos"/>
              </a:defRPr>
            </a:pPr>
            <a:r>
              <a:t>Consolidated peak value × source probability. Identify opportunities at 0% therefore contribute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18688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DWIN-DATED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18688"/>
            <a:ext cx="9281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7FAFC"/>
                </a:solidFill>
                <a:latin typeface="Aptos"/>
              </a:defRPr>
            </a:pPr>
            <a:r>
              <a:t>Opportunity Design Win Date falls in the stated year. This is a scheduled date, not proof of an achieved design win.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FF9F1C"/>
                </a:solidFill>
                <a:latin typeface="Aptos"/>
              </a:defRPr>
            </a:pPr>
            <a:r>
              <a:t>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877056"/>
            <a:ext cx="9281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7FAFC"/>
                </a:solidFill>
                <a:latin typeface="Aptos"/>
              </a:defRPr>
            </a:pPr>
            <a:r>
              <a:t>Source mixes Excel dates and text dates; both were normalized for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35424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FF9F1C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535424"/>
            <a:ext cx="9281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7FAFC"/>
                </a:solidFill>
                <a:latin typeface="Aptos"/>
              </a:defRPr>
            </a:pPr>
            <a:r>
              <a:t>All Sahil records are “Altera Opportunity”; Distributor Account is blank. No channel pipeline can be inferred.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93792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FF9F1C"/>
                </a:solidFill>
                <a:latin typeface="Aptos"/>
              </a:defRPr>
            </a:pPr>
            <a:r>
              <a:t>NOT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193792"/>
            <a:ext cx="9281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7FAFC"/>
                </a:solidFill>
                <a:latin typeface="Aptos"/>
              </a:defRPr>
            </a:pPr>
            <a:r>
              <a:t>Target, actual achievement, revenue/bookings, support history, market share, next actions, and named DFAE assignments.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98464"/>
            <a:ext cx="10881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8B2C7"/>
                </a:solidFill>
                <a:latin typeface="Aptos"/>
              </a:defRPr>
            </a:pPr>
            <a:r>
              <a:t>Regenerate with: python3 qbr/generate_sahil_qbr.py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APPENDIX /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References: market evidence and solution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4300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43000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International Federation of Robotics, World Robotics 2025 press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1143000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https://ifr.org/ifr-press-releases/news/global-robot-demand-in-factories-doubles-over-10-years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27632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Rockwell Automation, 2025 State of Smart Manufacturing — APAC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1627632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https://www.rockwellautomation.com/en-sg/company/news/press-releases/apac-sosm-2025.html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1226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12264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Interact Analysis, Machine Vision return-to-growth forecast, June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112264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https://interactanalysis.com/return-to-growth-forecast-for-machine-vision-in-2025-despite-us-tariffs/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968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96896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Robotics Solutions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596896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https://www.altera.com/fpga-solutions/robotics-solutions-stack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81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81528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Agilex 5 FPGA and SoC FPGA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3081528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https://www.altera.com/products/fpga/agilex/5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56616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566160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AMD, Kria KR260 robotics platform and Kria Robotics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3566160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https://www.amd.com/en/products/system-on-modules/kria/k26/robotics.html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50791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50791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Video and Vision Processing Suite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4050791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https://www.altera.com/products/ip/po-3150/video-and-vision-processing-suite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53542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35424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FPGA AI Suite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535424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https://www.altera.com/products/development-tools/fpga-ai-suite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02005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20056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AMD, Kria KV260 Vision AI Starter Kit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3792" y="5020056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https://www.amd.com/en/products/system-on-modules/kria/k26/kv260-vision-starter-kit.html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50468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504688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AMD, Versal AI Edge Series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5504688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https://www.amd.com/en/products/adaptive-socs-and-fpgas/versal/ai-edge-series.html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126480"/>
            <a:ext cx="10881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1">
                <a:solidFill>
                  <a:srgbClr val="FF9F1C"/>
                </a:solidFill>
                <a:latin typeface="Aptos"/>
              </a:defRPr>
            </a:pPr>
            <a:r>
              <a:t>Accessed 28 Jul 2026. Vendor specifications and performance figures are vendor-stated; validate against current datasheets and customer workloads.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APPENDIX /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References: competitive product and tool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37744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8B2C7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09960" cy="18288"/>
          </a:xfrm>
          <a:prstGeom prst="rect">
            <a:avLst/>
          </a:prstGeom>
          <a:solidFill>
            <a:srgbClr val="2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09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0">
                <a:solidFill>
                  <a:srgbClr val="A8B2C7"/>
                </a:solidFill>
                <a:latin typeface="Aptos"/>
              </a:defRPr>
            </a:pPr>
            <a:r>
              <a:t>Prepared 27 Jul 2026  •  Source: Sahil Report.xlsx  •  Values are in source units (currency not encoded)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4300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43000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Industrial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1143000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https://www.altera.com/fpga-solutions/industrial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27632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Agilex 5 SoC HPS features including three 2.5G TSN Ethernet MACs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1627632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https://docs.altera.com/r/docs/762191/current/agilextm-5-fpgas-and-socs-device-overview/additional-features-for-agilextm-5-socs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1226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12264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AMD, Industrial Networking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112264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https://www.amd.com/en/solutions/industrial/industrial-networking.html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968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96896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Agilex 5 Functional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596896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https://docs.altera.com/api/khub/documents/xhgkkZ1PZaLEHFnNiUlbNA/content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81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81528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AMD, Functional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3081528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https://www.amd.com/en/products/adaptive-socs-and-fpgas/technologies/functional-safety.html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56616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566160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Agilex 3 FPGA and SoC FPGA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3566160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https://www.altera.com/products/fpga/agilex/3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50791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50791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AMD, Spartan UltraScale+ FPGA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4050791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https://www.amd.com/en/products/adaptive-socs-and-fpgas/fpga/spartan-ultrascale-plus.html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53542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35424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AMD, Vitis unified software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535424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https://www.amd.com/en/products/software/adaptive-socs-and-fpgas/vitis.html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02005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20056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Video Solutions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3792" y="5020056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https://www.altera.com/fpga-solutions/video-solutions-stack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50468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00B8A9"/>
                </a:solidFill>
                <a:latin typeface="Aptos"/>
              </a:defRPr>
            </a:pPr>
            <a:r>
              <a:t>R20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504688"/>
            <a:ext cx="4023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80" b="1">
                <a:solidFill>
                  <a:srgbClr val="F7FAFC"/>
                </a:solidFill>
                <a:latin typeface="Aptos"/>
              </a:defRPr>
            </a:pPr>
            <a:r>
              <a:t>Altera, Sensor Interfaces including Holoscan Sensor Bridge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5504688"/>
            <a:ext cx="6327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680" b="0">
                <a:solidFill>
                  <a:srgbClr val="DDE6F3"/>
                </a:solidFill>
                <a:latin typeface="Aptos"/>
              </a:defRPr>
            </a:pPr>
            <a:r>
              <a:t>https://www.altera.com/fpga-solutions/sensory-interfaces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126480"/>
            <a:ext cx="10881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750" b="1">
                <a:solidFill>
                  <a:srgbClr val="FF9F1C"/>
                </a:solidFill>
                <a:latin typeface="Aptos"/>
              </a:defRPr>
            </a:pPr>
            <a:r>
              <a:t>Accessed 28 Jul 2026. Vendor specifications and performance figures are vendor-stated; validate against current datasheets and customer workloads.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