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FY2027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46704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Joined FAE team: 01 Jun 2026  •  Review point: FY2026 Q3 close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DIRECT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Fiscal year: 01 Nov–31 Oct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Pipeline snapshot: 17.3M FY2026 / 64.5M FY2027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TOTAL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17.3M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 direct records • 2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FY2027 TOTAL 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64.5M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22 direct records • 7 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SAHIL DIRECT QUALIFIED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18 distinct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SAHIL WEIGHTED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FY2026 splits into 4.25M direct + 13.09M channel.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FY2027 splits into 6.19M direct + 58.32M channel.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The supplied “22 Altera Opportunity” is 22 source rows, consolidating to 16 distinct opportunity IDs.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Sahil's direct scope is 10.45M across 18 distinct qualified opportunities; do not mix row counts and opportunity counts.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FY2026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4 Q4 FY2026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FY2026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18 / 10.45M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FY2026 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 / 4.25M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Sahil FY2027 direct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16 / 6.19M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stage funnel: FY2026 versus FY2027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468112" cy="4663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499616"/>
            <a:ext cx="19202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FY2026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463040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2100" b="1">
                <a:solidFill>
                  <a:srgbClr val="F7FAFC"/>
                </a:solidFill>
                <a:latin typeface="Aptos"/>
              </a:defRPr>
            </a:pPr>
            <a:r>
              <a:t>17.3M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59" y="1536192"/>
            <a:ext cx="1417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19" b="0">
                <a:solidFill>
                  <a:srgbClr val="A8B2C7"/>
                </a:solidFill>
                <a:latin typeface="Aptos"/>
              </a:defRPr>
            </a:pPr>
            <a:r>
              <a:t>20 distinct opps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30551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90472" y="2103120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90472" y="2103120"/>
            <a:ext cx="2542032" cy="31089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209397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12.66M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6632" y="20939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14 opps</a:t>
            </a:r>
            <a:br/>
            <a:r>
              <a:t>14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090671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90472" y="3063239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90472" y="3063239"/>
            <a:ext cx="740702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42232" y="305409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3.69M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6632" y="305409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5 opps</a:t>
            </a:r>
            <a:br/>
            <a:r>
              <a:t>8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050792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90472" y="4023360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0472" y="4023360"/>
            <a:ext cx="200868" cy="310896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42232" y="401421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1.00M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401421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  <a:br/>
            <a:r>
              <a:t>1 rows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5029200"/>
            <a:ext cx="5010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DDE6F3"/>
                </a:solidFill>
                <a:latin typeface="Aptos"/>
              </a:defRPr>
            </a:pPr>
            <a:r>
              <a:t>Direct 4.25M  •  Channel 13.09M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5376672"/>
            <a:ext cx="5010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Define stage = 73% of 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234440"/>
            <a:ext cx="5468112" cy="4663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1499616"/>
            <a:ext cx="19202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3A86FF"/>
                </a:solidFill>
                <a:latin typeface="Aptos"/>
              </a:defRPr>
            </a:pPr>
            <a:r>
              <a:t>FY2027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1463040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2100" b="1">
                <a:solidFill>
                  <a:srgbClr val="F7FAFC"/>
                </a:solidFill>
                <a:latin typeface="Aptos"/>
              </a:defRPr>
            </a:pPr>
            <a:r>
              <a:t>64.5M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1536192"/>
            <a:ext cx="1417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19" b="0">
                <a:solidFill>
                  <a:srgbClr val="A8B2C7"/>
                </a:solidFill>
                <a:latin typeface="Aptos"/>
              </a:defRPr>
            </a:pPr>
            <a:r>
              <a:t>82 distinct opps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2130551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14032" y="2103120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4032" y="2103120"/>
            <a:ext cx="2542032" cy="31089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5792" y="209397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55.93M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80192" y="20939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77 opps</a:t>
            </a:r>
            <a:br/>
            <a:r>
              <a:t>96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3090671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4032" y="3063239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14032" y="3063239"/>
            <a:ext cx="368148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5792" y="305409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8.10M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80192" y="305409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  <a:br/>
            <a:r>
              <a:t>2 rows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4050792"/>
            <a:ext cx="74980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14032" y="4023360"/>
            <a:ext cx="2542032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14032" y="4023360"/>
            <a:ext cx="21816" cy="310896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65792" y="4014216"/>
            <a:ext cx="8229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2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80192" y="401421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6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  <a:br/>
            <a:r>
              <a:t>4 rows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648" y="5029200"/>
            <a:ext cx="5010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DDE6F3"/>
                </a:solidFill>
                <a:latin typeface="Aptos"/>
              </a:defRPr>
            </a:pPr>
            <a:r>
              <a:t>Direct 6.19M  •  Channel 58.32M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5376672"/>
            <a:ext cx="5010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Define stage = 87% of 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Source: uploaded FY2026/FY2027 open-pipeline exports. “Rows” are product-line records; “opps” are distinct Opportunity IDs.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DWIN pipeline: convert 4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6492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9224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56.0%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8–15: build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18 qualified open opportunities exist; three lower-value plays sit below this Top 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and Ciena lead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16269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2.23M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495K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6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18/18 qualified open opportunities are direct; distributor account is blank in both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FY2026 / FY2027 account plans: convert, then expand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56578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FY2026 (Aug–Oct)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FY2027 expansion (Nov–Oct)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+ access/aggregation routers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Prioritize five open platforms and close architecture gaps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Secure-control and network-interface platform expansion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Account ownership: focus list plus allocated-customer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38328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17904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PRIMARY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1874520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76856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267712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Juniper / HPE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70048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660904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63240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1" y="3054096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56432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3447288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50208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OTHER STRATEGIC / SUPPORTED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297680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88536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Siemens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562856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553712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Boeing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828032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093208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Schneider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5358384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349240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133087" y="1234440"/>
          <a:ext cx="747979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53312"/>
                <a:gridCol w="822960"/>
                <a:gridCol w="1298448"/>
                <a:gridCol w="2907792"/>
              </a:tblGrid>
              <a:tr h="348175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Segment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DFAE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DEAL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C-DOT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Across India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 / 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LRDE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ECON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IRDE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Ghaziabad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Machilipatnam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80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94360" y="5897880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0">
                <a:solidFill>
                  <a:srgbClr val="A8B2C7"/>
                </a:solidFill>
                <a:latin typeface="Aptos"/>
              </a:defRPr>
            </a:pPr>
            <a:r>
              <a:t>Allocation image: all rows list Sahil as New FAE. “Outdo” normalized to Outdu; unknown DFAE shown as TBD.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External support execution: 16 substantive issue threads in 75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ISSUE THREADS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15 May–28 Jul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FAE TEAM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01 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3 threads latest pre-start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TECHNICAL 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from tools to board bring-up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EXPLICITLY RESOLVED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closure proven in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1576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Networking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268833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6440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Board / Schematic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23697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1304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Tools / 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379476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7480" y="3794760"/>
            <a:ext cx="4560570" cy="30175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378561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36168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PCIe / Configuration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97480" y="434340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4343400"/>
            <a:ext cx="4560570" cy="30175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33425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10327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Device / I/O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489204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97480" y="4892040"/>
            <a:ext cx="3040380" cy="30175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2832" y="488289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2651760"/>
            <a:ext cx="2057400" cy="277063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7504" y="2889504"/>
            <a:ext cx="1673352" cy="22677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900" b="1">
                <a:solidFill>
                  <a:srgbClr val="FF9F1C"/>
                </a:solidFill>
                <a:latin typeface="Aptos"/>
              </a:defRPr>
            </a:pPr>
            <a:r>
              <a:t>QUALITY RULE</a:t>
            </a:r>
          </a:p>
          <a:p>
            <a:pPr>
              <a:spcAft>
                <a:spcPts val="500"/>
              </a:spcAft>
              <a:defRPr sz="1100" b="1">
                <a:solidFill>
                  <a:srgbClr val="F7FAFC"/>
                </a:solidFill>
                <a:latin typeface="Aptos"/>
              </a:defRPr>
            </a:pPr>
            <a:r>
              <a:t>Only one thread explicitly records customer-confirmed resolution.</a:t>
            </a:r>
          </a:p>
          <a:p>
            <a:pPr>
              <a:spcAft>
                <a:spcPts val="500"/>
              </a:spcAft>
              <a:defRPr sz="1000" b="0">
                <a:solidFill>
                  <a:srgbClr val="DDE6F3"/>
                </a:solidFill>
                <a:latin typeface="Aptos"/>
              </a:defRPr>
            </a:pPr>
            <a:r>
              <a:t>Others show guidance, workaround, escalation or pending validation—not assumed closure.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75-day ledger. Sahil joined FAE on 01 Jun 2026; three threads show latest activity before that date and should be framed as transition/pre-start support.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Convert support into growth: primary-account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60120"/>
                <a:gridCol w="594360"/>
                <a:gridCol w="3291840"/>
                <a:gridCol w="4937760"/>
              </a:tblGrid>
              <a:tr h="693420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Primary 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Qualified open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Threads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signal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Next growth action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2.23M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 qualified network platforms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Joint OTN/router architecture and migration review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 / HPE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PCIe/flash support threads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Convert support into PCIe + secure-update design workshop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pipeline;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evidence and MRI UI evaluation criteria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1.01M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medical-control plays; no issue thread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Run imaging/controller platform review before issues arise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4.95M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 AI/vision plays;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AI architecture gate + run vision benchmark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96128"/>
            <a:ext cx="11109960" cy="50292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705856"/>
            <a:ext cx="106253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FF9F1C"/>
                </a:solidFill>
                <a:latin typeface="Aptos"/>
              </a:defRPr>
            </a:pPr>
            <a:r>
              <a:t>Critical gap: 4 of 5 primary accounts had no substantive issue thread in this window. Move from reactive support to scheduled architecture creation.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FY2027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 (Nov 2026–Oct 2027): three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approve numeric FY2027 creation targets after the FY2027 sales objective is confirmed.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56921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 qualified open + 3 outside-export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Support execution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external issue threads captured with outcomes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0/18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tiger team, readiness dates and Q4 FY2026 scorecard.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FY26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By 31 Oct: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FY2027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14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FY2026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Sahil joined FAE on 01 Jun 2026. Reporting attributes Sahil Patni + Kasturi Rangan to Sahil: 21 discovered / 18 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FISCAL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Altera FY runs 01 Nov–31 Oct. FY2026 Q4 is 01 Aug–31 Oct 2026; FY2027 is 01 Nov 2026–31 Oct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Uploaded 2026/2027 files are treated as fiscal planning buckets; membership is retained from each file rather than recalculated from DWIN 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18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28 Jul 2026  •  Source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