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786384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500" b="1">
                <a:solidFill>
                  <a:srgbClr val="F7FAFC"/>
                </a:solidFill>
                <a:latin typeface="Aptos"/>
              </a:defRPr>
            </a:pPr>
            <a:r>
              <a:t>Own the next gate.</a:t>
            </a:r>
            <a:br/>
            <a:r>
              <a:t>Build the FY2027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7223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>
                <a:solidFill>
                  <a:srgbClr val="DDE6F3"/>
                </a:solidFill>
                <a:latin typeface="Aptos"/>
              </a:defRPr>
            </a:pPr>
            <a:r>
              <a:t>FAE plan review  •  Altera + Arrow + Macnica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A8B2C7"/>
                </a:solidFill>
                <a:latin typeface="Aptos"/>
              </a:defRPr>
            </a:pPr>
            <a:r>
              <a:t>Wednesday, 29 July 2026  |  12:00–13:00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46704"/>
            <a:ext cx="7223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Joined FAE team: 01 Jun 2026  •  Review point: FY2026 Q3 close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685800"/>
            <a:ext cx="2971800" cy="507492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1078992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SAHIL DIRECT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508760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00B8A9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199339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487168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3A86FF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2971800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opportunities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456432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FF9F1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3941063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direct-account 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4590288"/>
            <a:ext cx="22860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5A5F"/>
                </a:solidFill>
                <a:latin typeface="Aptos"/>
              </a:defRPr>
            </a:pPr>
            <a:r>
              <a:t>Target + actual</a:t>
            </a:r>
            <a:br/>
            <a:r>
              <a:t>inputs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99632"/>
            <a:ext cx="7589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A8B2C7"/>
                </a:solidFill>
                <a:latin typeface="Aptos"/>
              </a:defRPr>
            </a:pPr>
            <a:r>
              <a:t>Fiscal year: 01 Nov–31 Oct  •  Values shown without assumed currency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Pipeline snapshot: 17.3M FY2026 / 64.5M FY2027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FY2026 TOTAL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17.3M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2 direct records • 2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FY2027 TOTAL OPEN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64.5M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22 direct records • 7 customers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SAHIL DIRECT QUALIFIED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18 distinct opportunities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SAHIL WEIGHTED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probability × peak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42032"/>
            <a:ext cx="6903720" cy="352044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788920"/>
            <a:ext cx="6446520" cy="2971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WHAT THE DATA SAYS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FY2026 splits into 4.25M direct + 13.09M channel.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FY2027 splits into 6.19M direct + 58.32M channel.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The supplied “22 Altera Opportunity” is 22 source rows, consolidating to 16 distinct opportunity IDs.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Sahil's direct scope is 10.45M across 18 distinct qualified opportunities; do not mix row counts and opportunity counts.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42032"/>
            <a:ext cx="3977639" cy="3520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788920"/>
            <a:ext cx="3456432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DECISIONS FOR THE REVIEW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1  Confirm FY2026 target and YTD actual.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2  Agree stage-exit evidence for 4 Q4 FY2026 DWINs.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3  Assign DFAE support to top conversion plays.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4  Select a distributor plan or confirm direct-only coverage.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FY2026 target vs current achievement: source inputs are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Do not use open opportunity value as booked achievement or target attainment.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FY2026 ANNUAL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Sales target is not in the source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YTD ACTUAL ACHIEVEMENT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Bookings/revenue/DWIN actuals are not in the source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GAP TO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9F1C"/>
                </a:solidFill>
                <a:latin typeface="Aptos"/>
              </a:defRPr>
            </a:pPr>
            <a:r>
              <a:t>[ CALCULATE AFTER INPUT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Target − YTD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93008"/>
            <a:ext cx="11109960" cy="2240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652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00B8A9"/>
                </a:solidFill>
                <a:latin typeface="Aptos"/>
              </a:defRPr>
            </a:pPr>
            <a:r>
              <a:t>AVAILABLE LEADING INDICATORS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18 / 10.45M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Sahil FY2026 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2 / 4.25M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Sahil FY2027 direct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16 / 6.19M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F9F1C"/>
                </a:solidFill>
                <a:latin typeface="Aptos"/>
              </a:defRPr>
            </a:pPr>
            <a:r>
              <a:t>Bring to review: annual target, YTD revenue/bookings, achieved DWIN count/value, and definition of “achievement.”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02 /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Opportunity funnel: separate qualified open from 0%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9903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3990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2588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325880"/>
            <a:ext cx="2223141" cy="43891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35331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3.60M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8592" y="135331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5915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5915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15 opps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231343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9.40M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31343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2.28M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1927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31927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24612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246120"/>
            <a:ext cx="555785" cy="43891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273551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273551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450K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7939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27939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20624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4206240"/>
            <a:ext cx="296418" cy="43891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23367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480K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423367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360K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109960" cy="6858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31536"/>
            <a:ext cx="3063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Qualified top 3 = 56%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431536"/>
            <a:ext cx="3429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B8A9"/>
                </a:solidFill>
                <a:latin typeface="Aptos"/>
              </a:defRPr>
            </a:pPr>
            <a:r>
              <a:t>Open exports = 10.45M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431536"/>
            <a:ext cx="35204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5A5F"/>
                </a:solidFill>
                <a:latin typeface="Aptos"/>
              </a:defRPr>
            </a:pPr>
            <a:r>
              <a:t>Identify outside exports = 3.94M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03 /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FY2026 DWIN pipeline: convert 4 named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61872"/>
          <a:ext cx="11109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12848"/>
                <a:gridCol w="694944"/>
                <a:gridCol w="566928"/>
                <a:gridCol w="941832"/>
                <a:gridCol w="704088"/>
                <a:gridCol w="4937760"/>
              </a:tblGrid>
              <a:tr h="6492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773168"/>
            <a:ext cx="11109960" cy="107899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992624"/>
            <a:ext cx="2423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REVIEW COMMITMENT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4928616"/>
            <a:ext cx="8366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For each play: customer decision date • technical gap • required sample/tool/IP • named Sales + FAE + DFAE owners • evidence for the next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1–7: protect the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56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CFPGA_PCIe Gen1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Develop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19 Feb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validation plan and design-freeze evidence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Long Range Tracking System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17 Mar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825K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_ Network Interface Device_OTN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Anesthesia Controller_X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 May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5136_Aggregation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492K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Qualified ranks 1–3 contribute 56.0% of qualified open value; inspect weekly.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8–15: build breadth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4998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5134_Aggregation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Scanner_DCB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07 Jul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micro vapour cooling system - VCS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01 Jun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3949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18 qualified open opportunities exist; three lower-value plays sit below this Top 15.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Qualified customer portfolio: Outdu and Ciena lead open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4.95M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27101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1.24M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8864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3852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109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11095"/>
            <a:ext cx="2162694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2.23M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1901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495K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6 opps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9463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542032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8840" y="2542032"/>
            <a:ext cx="979560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1.01M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532888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242K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00399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Juniper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3172968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48840" y="3172968"/>
            <a:ext cx="872836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16382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31336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3803904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48840" y="3803904"/>
            <a:ext cx="75160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14032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775K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3794760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194K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622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Tech.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443484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4434840"/>
            <a:ext cx="290945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4032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300K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4" y="442569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180K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09320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48840" y="506577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8840" y="5065775"/>
            <a:ext cx="27154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280K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5056631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205K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4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70448"/>
            <a:ext cx="11109960" cy="38404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943600"/>
            <a:ext cx="10652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Coverage check: 18/18 qualified open opportunities are direct; distributor account is blank in both exports.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FY2026 / FY2027 account plans: convert, then expand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2084831"/>
                <a:gridCol w="3749039"/>
                <a:gridCol w="4197096"/>
              </a:tblGrid>
              <a:tr h="56578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plays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Q4 FY2026 (Aug–Oct)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FY2027 expansion (Nov–Oct)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response + tracking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21 Oct architecture, BOM and evaluation gate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Replicate video/vision pipeline across tracking + analytics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Radar + industrial/aerospace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3.00M radar; close two Design-stage evidence packs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Create radar/thermal-control solution campaign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PCIe FPGA + PQC interface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Move CFPGA through validation; qualify PQC from 0%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Position Agilex 3 for security/control-plane refresh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CT, anesthesia, power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Recover SP-PDU gate; define CT/anesthesia evaluations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Medical imaging + controller platform expansion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dual-device architecture before 16 Dec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modernization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UI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design evidence; define MRI UI success criteria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Imaging workflow and low-power control adjacency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+ access/aggregation routers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Prioritize five open platforms and close architecture gaps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Secure-control and network-interface platform expansion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0">
                <a:solidFill>
                  <a:srgbClr val="A8B2C7"/>
                </a:solidFill>
                <a:latin typeface="Aptos"/>
              </a:defRPr>
            </a:pPr>
            <a:r>
              <a:t>These are proposed actions inferred from stage/date/product data; validate customer commitments and support history in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Account ownership: focus list plus allocated-customer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38328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17904"/>
            <a:ext cx="2880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PRIMARY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1874520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76856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267712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Juniper / HPE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70048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2660904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063240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1" y="3054096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456432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" y="3447288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950208"/>
            <a:ext cx="2880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OTHER STRATEGIC / SUPPORTED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297680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88536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Siemens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562856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553712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Boeing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828032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Aerospace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093208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Schneider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5358384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349240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133087" y="1234440"/>
          <a:ext cx="747979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53312"/>
                <a:gridCol w="822960"/>
                <a:gridCol w="1298448"/>
                <a:gridCol w="2907792"/>
              </a:tblGrid>
              <a:tr h="348175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Location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Segment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Allocation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DFAE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Amol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DEAL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Dehradun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Mayank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C-DOT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Across India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Jan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Mayank / Amol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 / Prasad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LRDE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 / Prasad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ECON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Chennai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OTHERS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Akash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Chennai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Akash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IRDE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Dehradun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TBH / Prasad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Ghaziabad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TBH / Prasad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Machilipatnam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80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OTHERS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Jan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594360" y="5897880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0">
                <a:solidFill>
                  <a:srgbClr val="A8B2C7"/>
                </a:solidFill>
                <a:latin typeface="Aptos"/>
              </a:defRPr>
            </a:pPr>
            <a:r>
              <a:t>Allocation image: all rows list Sahil as New FAE. “Outdo” normalized to Outdu; unknown DFAE shown as TBD.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External support execution: 16 substantive issue threads in 75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ISSUE THREADS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15 May–28 Jul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FAE TEAM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01 Jun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3 threads latest pre-start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TECHNICAL THEMES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from tools to board bring-up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EXPLICITLY RESOLVED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closure proven in summaries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71576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Networking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69748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97480" y="2697480"/>
            <a:ext cx="6080760" cy="301752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268833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6440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Board / Schematic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324612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97480" y="3246120"/>
            <a:ext cx="6080760" cy="30175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23697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1304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Tools / 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379476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7480" y="3794760"/>
            <a:ext cx="4560570" cy="30175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378561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36168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PCIe / Configuration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97480" y="434340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7480" y="4343400"/>
            <a:ext cx="4560570" cy="30175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433425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910327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Device / I/O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489204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97480" y="4892040"/>
            <a:ext cx="3040380" cy="30175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42832" y="488289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55480" y="2651760"/>
            <a:ext cx="2057400" cy="277063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7504" y="2889504"/>
            <a:ext cx="1673352" cy="22677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900" b="1">
                <a:solidFill>
                  <a:srgbClr val="FF9F1C"/>
                </a:solidFill>
                <a:latin typeface="Aptos"/>
              </a:defRPr>
            </a:pPr>
            <a:r>
              <a:t>QUALITY RULE</a:t>
            </a:r>
          </a:p>
          <a:p>
            <a:pPr>
              <a:spcAft>
                <a:spcPts val="500"/>
              </a:spcAft>
              <a:defRPr sz="1100" b="1">
                <a:solidFill>
                  <a:srgbClr val="F7FAFC"/>
                </a:solidFill>
                <a:latin typeface="Aptos"/>
              </a:defRPr>
            </a:pPr>
            <a:r>
              <a:t>Only one thread explicitly records customer-confirmed resolution.</a:t>
            </a:r>
          </a:p>
          <a:p>
            <a:pPr>
              <a:spcAft>
                <a:spcPts val="500"/>
              </a:spcAft>
              <a:defRPr sz="1000" b="0">
                <a:solidFill>
                  <a:srgbClr val="DDE6F3"/>
                </a:solidFill>
                <a:latin typeface="Aptos"/>
              </a:defRPr>
            </a:pPr>
            <a:r>
              <a:t>Others show guidance, workaround, escalation or pending validation—not assumed closure.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75-day ledger. Sahil joined FAE on 01 Jun 2026; three threads show latest activity before that date and should be framed as transition/pre-start support.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Convert support into growth: primary-account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960120"/>
                <a:gridCol w="594360"/>
                <a:gridCol w="3291840"/>
                <a:gridCol w="4937760"/>
              </a:tblGrid>
              <a:tr h="693420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Primary 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Qualified open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Threads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signal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Next growth action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2.23M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 qualified network platforms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Joint OTN/router architecture and migration review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 / HPE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 PCIe/flash support threads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Convert support into PCIe + secure-update design workshop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pipeline; no issue thread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evidence and MRI UI evaluation criteria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1.01M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 medical-control plays; no issue thread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Run imaging/controller platform review before issues arise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4.95M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 AI/vision plays; no issue thread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AI architecture gate + run vision benchmark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96128"/>
            <a:ext cx="11109960" cy="50292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705856"/>
            <a:ext cx="1062532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FF9F1C"/>
                </a:solidFill>
                <a:latin typeface="Aptos"/>
              </a:defRPr>
            </a:pPr>
            <a:r>
              <a:t>Critical gap: 4 of 5 primary accounts had no substantive issue thread in this window. Move from reactive support to scheduled architecture creation.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FY2027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FY2027 demand creation (Nov 2026–Oct 2027): three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Industrial OEMs; Emerson + Honeywell adjacencies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Deterministic control, functional partitioning, secure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Controller architecture workshop + 3 qualified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Outdu, medical imaging and smart sensing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Edge AI/video pipeline on Agilex 5 D / Agilex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Vision benchmark day + reference design + 3 evaluations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3A86FF"/>
                </a:solidFill>
                <a:latin typeface="Aptos"/>
              </a:defRPr>
            </a:pPr>
            <a:r>
              <a:t>INDUSTRIAL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Automation, medical controls and network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PCIe/Ethernet modernization and legacy FPGA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Portfolio migration clinic + joint Sales/FAE account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5216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Review decision: approve numeric FY2027 creation targets after the FY2027 sales objective is confirmed.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Critical-review verdict: strong analysis, incomplete execution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834640" cy="455371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54480"/>
            <a:ext cx="23042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5A5F"/>
                </a:solidFill>
                <a:latin typeface="Aptos"/>
              </a:defRPr>
            </a:pPr>
            <a:r>
              <a:t>CURRENT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230428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NOT YET</a:t>
            </a:r>
            <a:br/>
            <a:r>
              <a:t>READY TO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90672"/>
            <a:ext cx="2304288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DDE6F3"/>
                </a:solidFill>
                <a:latin typeface="Aptos"/>
              </a:defRPr>
            </a:pPr>
            <a:r>
              <a:t>The market case and opportunity analysis are strong. The team, demos, distributor ownership and conversion system are not yet committed.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47488"/>
            <a:ext cx="23042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Fix the operating model before launching campaigns.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584448" y="1234440"/>
          <a:ext cx="8028432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822960"/>
                <a:gridCol w="5541264"/>
              </a:tblGrid>
              <a:tr h="56921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Readiness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Evidence / gap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Pipeline facts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 qualified open + 3 outside-export plays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Market + competition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Three sourced segments and an honest AMD battlecard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Support execution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external issue threads captured with outcomes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 portfolio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Solutions exist; access, kit, maturity and demo owners need verification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Distributor team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No Arrow or Macnica specialist is named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Channel pipeline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0/18 qualified open opportunities linked to a distributor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Execution scorecard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metrics exist; leadership and distis have not committed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39312" y="5916168"/>
            <a:ext cx="7863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80" b="1">
                <a:solidFill>
                  <a:srgbClr val="FF9F1C"/>
                </a:solidFill>
                <a:latin typeface="Aptos"/>
              </a:defRPr>
            </a:pPr>
            <a:r>
              <a:t>Review decision: approve the joint tiger team, readiness dates and Q4 FY2026 scorecard.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solution arsenal: lead with demonstrable systems, not device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ROS Consolidated Robot 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motor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with 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HPS TSN 3×2.5G SGMII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Sensor Fusion Platform for AMRs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Functional-safety flow / FSDP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7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B8A9"/>
                </a:solidFill>
                <a:latin typeface="Aptos"/>
              </a:defRPr>
            </a:pPr>
            <a:r>
              <a:t>CAMERA + EDGE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7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3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Holoscan Sensor Bridge: MIPI→10GbE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7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303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4Kp60 Multi-Sensor HDR Camera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7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3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4Kp30 Multi-Sensor Camera +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3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Smart Camera Demo Kit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7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3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45+ Video &amp; Vision Processing IPs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7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3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FPGA AI Suite + MIPI CSI-2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53127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216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3A86FF"/>
                </a:solidFill>
                <a:latin typeface="Aptos"/>
              </a:defRPr>
            </a:pPr>
            <a:r>
              <a:t>PARTNER PLATFORMS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Arrow Eagle Board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Sulphur Agilex 5 kit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0216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MEP100 ST2110 SmartNIC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216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Agilex 5 Modular / Premium kits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0216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Critical Link vision modules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216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IntoPIX JPEG-XS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0216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[R4], [R7], [R8], [R19], [R20]. Holoscan is NVIDIA technology integrated by Altera reference designs; solution access/maturity must be checked.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Solution readiness: every offer needs an owner, running kit and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2057400"/>
                <a:gridCol w="1993392"/>
                <a:gridCol w="4983480"/>
                <a:gridCol w="594360"/>
              </a:tblGrid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Minimum owner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Platform / kit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Proof required before customer campaign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robot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Robotics DFAE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Sensor→actuator jitter + ROS 2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Holoscan bridge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Camera/AI DFAE + Macnica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Premium + MIPI + 10GbE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 stream into NVIDIA Holoscan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4Kp60 HDR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Macnica expert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 +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ISP image quality, latency and power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4Kp30 camera + 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DFAE + Arrow expert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kit + customer model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Ingest→inference→display benchmark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Drive-on-Chip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Control DFAE + Arrow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Motor-loop latency and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3×2.5G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DFAE + Sahil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Multi-node sync, jitter and topology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 fusion / AMR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expert + Macnica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+ sensor set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Time-aligned multi-sensor pipeline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Smart camera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Critical Link + joint team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Partner kit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 model + production BOM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Readiness means the team can run the demo, explain limitations, reproduce results and support an evaluation. A web page alone is not readiness.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This is not a one-person job: form one market-penetration tiger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  <a:latin typeface="Aptos"/>
              </a:defRPr>
            </a:pPr>
            <a:r>
              <a:t>ALTERA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802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00B8A9"/>
                </a:solidFill>
                <a:latin typeface="Aptos"/>
              </a:defRPr>
            </a:pPr>
            <a:r>
              <a:t>NAMED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Sahil — program + solution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segment strategy and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Coordinate Robotics, AI/Vision, TSN/FuSa DFAEs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Define benchmark method and technical red 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Escalate product/IP/roadmap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7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FF9F1C"/>
                </a:solidFill>
                <a:latin typeface="Aptos"/>
              </a:defRPr>
            </a:pPr>
            <a:r>
              <a:t>ARROW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FF9F1C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7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3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7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18303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Arrow account map and opportunity follow-up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7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3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Maintain Eagle/A5 kits, samples and logistics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7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3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workshops and CRM hygiene with Sales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3A86FF"/>
                </a:solidFill>
                <a:latin typeface="Aptos"/>
              </a:defRPr>
            </a:pPr>
            <a:r>
              <a:t>MACNICA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3A86FF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Macnica account map and opportunity follow-up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Bring Sulphur, MEP100 and video ecosystem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evaluations and close integration gaps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888736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9F1C"/>
                </a:solidFill>
                <a:latin typeface="Aptos"/>
              </a:defRPr>
            </a:pPr>
            <a:r>
              <a:t>Minimum formation rule: one named robotics/AI/camera-capable specialist from each organization, backed by Altera specialist DFAEs.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Joint market penetration: ready → target → prove → convert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344168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05 AUG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234440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362456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Name Arrow + Macnica specialists; approve charter, segment roles and weekly cadence.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0552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14 AUG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468880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130552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258568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Run internal enablement; verify solution access; establish ≥1 working robotics and ≥1 camera/AI demo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26664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36392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31 AUG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3026664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3154680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Build 30-account map: 15 Arrow + 15 Macnica; rank pains, installed competition and sponsor.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22776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4032504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SEP–OCT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261104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ENGAGE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3922776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4050791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12 customer workshops; 8 benchmark/evaluation starts; joint Sales–FAE–disti follow-up in 48 hours.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18888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928616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Q4 FY26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" y="5157216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CONVERT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57400" y="4818888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31720" y="4946903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By 31 Oct: 6 qualified opportunities, 3 Develop/Design-stage plays and 2 DWINs.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806440"/>
            <a:ext cx="11109960" cy="34747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70448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1">
                <a:solidFill>
                  <a:srgbClr val="FF9F1C"/>
                </a:solidFill>
                <a:latin typeface="Aptos"/>
              </a:defRPr>
            </a:pPr>
            <a:r>
              <a:t>These are proposed critical-review commitments—not achieved results. Leadership, Arrow and Macnica must accept or reset them in the meeting.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Market review: growth is real, but proof-of-value wins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ROBOTICS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9,100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robots installed in India in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+7% YoY • India ranked #6 • automotive = 45% of installs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Prioritize automotive suppliers, machine builders and control platforms; sell deterministic integration, not an FPGA.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7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$5.7B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2025 global machine-vision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+1.5% after a 3.9% decline in 2024 • price pressure remains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Lead with workload benchmarks, integration time and sensor flexibility; generic camera growth is not enough.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INDUSTRIAL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of APAC manufacturers investing/planning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quality control 47% • process optimization 43% • cyber is critical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Package edge AI with control, networking, safety and security around a measurable factory KPI.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[R3] Interact Analysis, Jun 2025  •  [R2] Rockwell APAC Smart Manufacturing 2025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Robotics: India is scaling; own the deterministic control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1012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542K global robot installs in 2024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4.664M operational stock; +9% YoY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India: 9.1K installs, +7%, #6 globally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45% of India installs were automotive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IFR forecasts 575K global installs in 2025 and &gt;700K by 2028.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Kria KR260: production SOM path, native ROS 2 and Kria Robotics Stack.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ROS 2 controller, Drive-on-Chip, safety, sensor fusion and 3×2.5G TSN reference designs.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Demonstrate lower end-to-end jitter and fewer devices for the customer's exact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Robot OEMs, AMR makers, automotive suppliers and control-system integrators.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Sense→think→act workshop using Agilex 5 SoC, TSN and functional-safety architecture.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12 named accounts • 6 workshops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[R4] Altera Robotics Stack  •  [R5] Agilex 5  •  [R6] AMD Kria KR260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Video + vision: recovery is selective; benchmark 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2024 global market: −3.9%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Inventory correction and manufacturing softness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2025 forecast: +1.5% to $5.7B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2028 forecast: $7B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Area-scan cameras fell 7.8%; APAC vendor price pressure makes undifferentiated hardware vulnerable.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KV260 quick start, multi-camera interfaces, Vitis Vision/AI and Versal AI Engine scale.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45+ VVP IP cores, &gt;600 MHz claimed Fmax, 8K60+ optimization and FPGA AI Suite.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Customer-model benchmark: ingest + ISP + inference + output latency, power and engineering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Outdu tracking/analytics; GE + Philips medical imaging; industrial inspection.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Bring-your-model vision benchmark day with two sensor interfaces and a production BOM.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8 accounts • 4 benchmarks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[R3] Interact Analysis  •  [R7] Altera VVP Suite  •  [R8] FPGA AI Suite  •  [R9] AMD KV260  •  [R10] Versal AI Edge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Industrial: AI spending converges with control, safety and cyber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MARKET EVIDENCE — APAC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94% investing / planning AI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47%: quality control is top AI use case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43%: process optimization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95%: cyber standards important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The buying unit spans OT control, data, safety and security—not a single component owner.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Shared table stakes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AMD and Altera both offer TSN, industrial connectivity and certified safety flows.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 point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Agilex 5 SoC integrates three hardened 2.5G TSN MACs; Drive-on-Chip and FSDP support.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Quantify BOM consolidation, deterministic cycle time and certification work saved.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Emerson controller; Honeywell automation; machine builders via Arrow/Macnica.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Industrial platform clinic: TSN + PLC/control + safety + secure lifecycle.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15 accounts • 6 clinics • 4 evaluations • 3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[R2] Rockwell APAC 2025  •  [R11–R15] Altera/AMD industrial networking and functional-safety sources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Competitive portfolio map: no single one-for-one device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017520"/>
                <a:gridCol w="3017520"/>
                <a:gridCol w="3840480"/>
              </a:tblGrid>
              <a:tr h="905256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Battlefield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FAE comparison rule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 edge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 C: FPGA + optional dual A55 SoC, AI tensor DSP, MIPI, 12.5G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high I/O, 16.3G, PCIe Gen4, hardened LPDDR; no processor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Compare package, I/O mix, BOM, power and required processor—not density labels.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Midrange embedded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E: A76/A55 SoC options, 3×2.5G TSN, AI tensor blocks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Zynq UltraScale+ MPSoC / Kria K26: mature SOM and software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Altera: consolidation + hard TSN. AMD: fast SOM/ROS path. Prove development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/ vision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D/E + FPGA AI Suite + VVP; custom streaming data path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+ AI Engines; Kria KV260 for fast vision evaluation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TOPS are not directly comparable. Benchmark the customer's model and full pipeline.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High-end adaptable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7/9 families for high bandwidth, RF and complex acceleration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Premium / AI Core / RF families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Treat as architecture-led pursuits; involve product-line DFAEs before device claims.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Never compare LE vs logic-cell counts or headline TOPS as equivalent metrics; normalize the workload, precision, sparsity, clocks, power and tool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[R5], [R8], [R10], [R16], [R17] — official vendor product pages; claims remain vendor-stated until customer benchmark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vs AMD Xilinx: evidence-based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16352"/>
                <a:gridCol w="2816352"/>
                <a:gridCol w="4471416"/>
              </a:tblGrid>
              <a:tr h="67926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Criterion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Implication / honest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SW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2 controller + Drive-on-Chip reference stack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KR260 + native ROS 2 + KRS + production K26 SOM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advantage for software-first/SOM buyers; counter with deterministic consolidation proof.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Vision IP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45+ VVP cores; FPGA AI Suite; custom streaming fabric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Vitis Vision/AI; KV260; Versal AI Engines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Both credible. Win on measured end-to-end latency, power and engineering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3/5/7 portfolio; vendor claims up to 152.6 INT8 TOPS on A5 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vendor table: 5–202 dense INT8 TOPS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Do not rank by TOPS alone; architectures, devices and assumptions differ.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SoC: three hardened 2.5G TSN MACs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100M/1G TSN LogiCORE; broader industrial protocol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Lead with integration/BOM if hard TSN fits; validate exact protocol and topology.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Functional safety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TÜV-reviewed FSDP/methodology; stated suitability up to SIL3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 SÜD-certified flows; IEC 61508 / ISO 13849 support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Table stakes for both. Compare exact device/tool/IP certificate scope.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72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3: SoC option, MIPI, AI tensor DSP, 12.5G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up to 572 I/O, 16.3G, PCIe Gen4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 customer pinout + board-cost study. Neither wins every configuration.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[R4–R18] Official vendor sources. “Advantage” statements are sales assessments, not third-party benchmark conclusions.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How to win against AMD Xilinx: replace claims with customer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44751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1  DISCOVER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261872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389888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Installed device/tool flow? Decision owner? Workload? Pain: latency, power, I/O, BOM, safety or schedule?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39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3172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2 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148839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276856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Capture AMD reference: exact device/board, tool version, model precision, interfaces, clocks and measured power.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35808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3 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035808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3163824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Run the same workload on Altera; publish reproducible scripts, resource use, latency distribution, power and BOM.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05656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4  DE-RISK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3922776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4050791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Close IP gaps, migration effort, safety scope, supply/lifecycle and support plan with named DFAEs.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9744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992624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5  COMMERCIALIZE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4809744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937759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Convert evaluation success into architecture freeze, DWIN evidence and production forecast.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33872"/>
            <a:ext cx="11109960" cy="32004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79592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Red line: do not use vendor headline TOPS, power or performance claims as an apples-to-apples result without reproducing the workload.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13 / TEAM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DFAE + ecosystem engagement: attach expertise to stage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Sponsor, use case, value, budget and decision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FAE + specialist DFAE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Block diagram, device fit, IP/tools and risk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Customer + FAE + DFAE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Evaluation results, issue closure and design-freeze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 +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DW evidence, forecast, supply path and production handoff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1109960" cy="150876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1596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WEEKLY OPERATING CADENCE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Top-5 stage/gap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Customer/DFAE action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Evidence + CRM hygiene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MONTH-END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Pipeline creation + conversion scorecard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14 /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Close the review with owners, evidence and missing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6675120" cy="4526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61722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3392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next-stage evidence and due date for every top-5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88336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88336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Qualify Weather Radar and CPU Interface Card from 0% or remove value from the active forecast.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83280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383280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one Arrow and one Macnica robotics/AI/camera specialist by 05 Aug; verify solution readiness by 14 Aug.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078224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078224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Publish a 30-account Arrow + Macnica map and create the 15th strategic opportunity.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773168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Run three joint benchmark-led campaigns and inspect workshops, evaluations, qualified pipeline and DWINs weekly.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261872"/>
            <a:ext cx="420624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1554480"/>
            <a:ext cx="3703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5A5F"/>
                </a:solidFill>
                <a:latin typeface="Aptos"/>
              </a:defRPr>
            </a:pPr>
            <a:r>
              <a:t>INPUTS TO COMPLETE BEFORE PRESENTING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99339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199339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FY2026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44144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244144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YTD actual / achieved DWINs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889504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889504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Gap-closure value and 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37560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337560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Support activity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85616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85616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Customer market-share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23367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23367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Arrow + Macnica specialist names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68172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468172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Named solution DFAEs / kit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266944"/>
            <a:ext cx="3611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B8A9"/>
                </a:solidFill>
                <a:latin typeface="Aptos"/>
              </a:defRPr>
            </a:pPr>
            <a:r>
              <a:t>No invented numbers.</a:t>
            </a:r>
            <a:br/>
            <a:r>
              <a:t>Fill, validate, commit.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Appendix: scope, definitions and data-quality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4358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Sahil joined FAE on 01 Jun 2026. Reporting attributes Sahil Patni + Kasturi Rangan to Sahil: 21 discovered / 18 open.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FISCAL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0195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Altera FY runs 01 Nov–31 Oct. FY2026 Q4 is 01 Aug–31 Oct 2026; FY2027 is 01 Nov 2026–31 Oct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BUCKETS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60320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Uploaded 2026/2027 files are treated as fiscal planning buckets; membership is retained from each file rather than recalculated from DWIN Date.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18688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Product-line Peak Value summed within each Opportunity ID. Source file does not encode currency.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WEIGHTED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Consolidated peak value × source probability. Identify opportunities at 0% therefore contribute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3542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DWIN-DATED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3542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Opportunity Design Win Date falls in the stated year. This is a scheduled date, not proof of an achieved design win.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9379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All 18 uploaded open opportunities are direct and Distributor Account is blank. No channel-owned pipeline is evidenced.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98464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Regenerate with: python3 qbr/generate_sahil_qbr.py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market evidence and solution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International Federation of Robotics, World Robotics 2025 press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https://ifr.org/ifr-press-releases/news/global-robot-demand-in-factories-doubles-over-10-years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Rockwell Automation, 2025 State of Smart Manufacturing — APAC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https://www.rockwellautomation.com/en-sg/company/news/press-releases/apac-sosm-2025.html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Interact Analysis, Machine Vision return-to-growth forecast, June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https://interactanalysis.com/return-to-growth-forecast-for-machine-vision-in-2025-despite-us-tariffs/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Robotics Solutions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https://www.altera.com/fpga-solutions/robotics-solutions-stack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FPGA and SoC FPGA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KR260 robotics platform and Kria Robotics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https://www.amd.com/en/products/system-on-modules/kria/k26/robotics.html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and Vision Processing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https://www.altera.com/products/ip/po-3150/video-and-vision-processing-suite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FPGA AI Suite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https://www.altera.com/products/development-tools/fpga-ai-suite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KV260 Vision AI Starter 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https://www.amd.com/en/products/system-on-modules/kria/k26/kv260-vision-starter-kit.html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Versal AI Edge Series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https://www.amd.com/en/products/adaptive-socs-and-fpgas/versal/ai-edge-series.html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competitive product and tool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Industrial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SoC HPS features including three 2.5G TSN Ethernet MACs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https://docs.altera.com/r/docs/762191/current/agilextm-5-fpgas-and-socs-device-overview/additional-features-for-agilextm-5-socs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Industrial Networking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https://www.amd.com/en/solutions/industrial/industrial-networking.html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Functional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https://docs.altera.com/api/khub/documents/xhgkkZ1PZaLEHFnNiUlbNA/content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Functional 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https://www.amd.com/en/products/adaptive-socs-and-fpgas/technologies/functional-safety.html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3 FPGA and SoC FPGA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Spartan UltraScale+ FPGA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https://www.amd.com/en/products/adaptive-socs-and-fpgas/fpga/spartan-ultrascale-plus.html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Vitis unified software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https://www.amd.com/en/products/software/adaptive-socs-and-fpgas/vitis.html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Solutions 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https://www.altera.com/fpga-solutions/video-solutions-stack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Sensor Interfaces including Holoscan Sensor Bridge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https://www.altera.com/fpga-solutions/sensory-interfaces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