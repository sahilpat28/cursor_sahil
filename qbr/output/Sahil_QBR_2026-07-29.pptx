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3657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15568"/>
            <a:ext cx="7863840" cy="12070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500" b="1">
                <a:solidFill>
                  <a:srgbClr val="F7FAFC"/>
                </a:solidFill>
                <a:latin typeface="Aptos"/>
              </a:defRPr>
            </a:pPr>
            <a:r>
              <a:t>Own the next gate.</a:t>
            </a:r>
            <a:br/>
            <a:r>
              <a:t>Build the 2027 engine.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69494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800" b="0">
                <a:solidFill>
                  <a:srgbClr val="DDE6F3"/>
                </a:solidFill>
                <a:latin typeface="Aptos"/>
              </a:defRPr>
            </a:pPr>
            <a:r>
              <a:t>FAE plan review  •  Sahil Patni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694944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0">
                <a:solidFill>
                  <a:srgbClr val="A8B2C7"/>
                </a:solidFill>
                <a:latin typeface="Aptos"/>
              </a:defRPr>
            </a:pPr>
            <a:r>
              <a:t>Wednesday, 29 July 2026  |  12:00–13:00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685800"/>
            <a:ext cx="2971800" cy="507492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96528" y="1078992"/>
            <a:ext cx="22860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PIPELINE SNAPSHOT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6528" y="1508760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00B8A9"/>
                </a:solidFill>
                <a:latin typeface="Aptos"/>
              </a:defRPr>
            </a:pPr>
            <a:r>
              <a:t>11.82M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96528" y="1993392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96528" y="2487168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3A86FF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96528" y="2971800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distinct opportunities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6528" y="3456432"/>
            <a:ext cx="228600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3100" b="1">
                <a:solidFill>
                  <a:srgbClr val="FF9F1C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96528" y="3941063"/>
            <a:ext cx="2286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0">
                <a:solidFill>
                  <a:srgbClr val="DDE6F3"/>
                </a:solidFill>
                <a:latin typeface="Aptos"/>
              </a:defRPr>
            </a:pPr>
            <a:r>
              <a:t>direct-account 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4590288"/>
            <a:ext cx="2286000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5A5F"/>
                </a:solidFill>
                <a:latin typeface="Aptos"/>
              </a:defRPr>
            </a:pPr>
            <a:r>
              <a:t>Target + actual</a:t>
            </a:r>
            <a:br/>
            <a:r>
              <a:t>inputs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99632"/>
            <a:ext cx="68580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A8B2C7"/>
                </a:solidFill>
                <a:latin typeface="Aptos"/>
              </a:defRPr>
            </a:pPr>
            <a:r>
              <a:t>Prepared from Sahil Report.xlsx  •  Source values shown without assumed currency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Executive snapshot: value exists; conversion discipline is 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PEAK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00B8A9"/>
                </a:solidFill>
                <a:latin typeface="Aptos"/>
              </a:defRPr>
            </a:pPr>
            <a:r>
              <a:t>11.82M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14 opportunities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A86FF"/>
                </a:solidFill>
                <a:latin typeface="Aptos"/>
              </a:defRPr>
            </a:pPr>
            <a:r>
              <a:t>2.51M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probability × peak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ADDED IN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FF9F1C"/>
                </a:solidFill>
                <a:latin typeface="Aptos"/>
              </a:defRPr>
            </a:pPr>
            <a:r>
              <a:t>6.70M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39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8 new opportunities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1234440"/>
            <a:ext cx="2578608" cy="1024128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97112" y="1353312"/>
            <a:ext cx="2249424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DWIN-DATED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97112" y="1581912"/>
            <a:ext cx="2249424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300" b="1">
                <a:solidFill>
                  <a:srgbClr val="3DDC97"/>
                </a:solidFill>
                <a:latin typeface="Aptos"/>
              </a:defRPr>
            </a:pPr>
            <a:r>
              <a:t>5.30M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7112" y="1984248"/>
            <a:ext cx="2249424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5 opportunities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42032"/>
            <a:ext cx="6903720" cy="352044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788920"/>
            <a:ext cx="6446520" cy="29718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00B8A9"/>
                </a:solidFill>
                <a:latin typeface="Aptos"/>
              </a:defRPr>
            </a:pPr>
            <a:r>
              <a:t>WHAT THE DATA SAYS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3.60M sits at Identify / 0% probability; qualification is the first value unlock.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Outdu AI is 4.12M (35% of portfolio) but remains Define with a 21 Oct 2026 DWIN date.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Q4 2026 DWIN-dated pipeline is 5.04M, yet weighted value is only 1.26M.</a:t>
            </a:r>
          </a:p>
          <a:p>
            <a:pPr>
              <a:spcAft>
                <a:spcPts val="500"/>
              </a:spcAft>
              <a:defRPr sz="1500" b="0">
                <a:solidFill>
                  <a:srgbClr val="F7FAFC"/>
                </a:solidFill>
                <a:latin typeface="Aptos"/>
              </a:defRPr>
            </a:pPr>
            <a:r>
              <a:t>• Source contains direct opportunities only; no distributor-owned pipeline is present.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542032"/>
            <a:ext cx="3977639" cy="352044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2127" y="2788920"/>
            <a:ext cx="3456432" cy="29260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FF9F1C"/>
                </a:solidFill>
                <a:latin typeface="Aptos"/>
              </a:defRPr>
            </a:pPr>
            <a:r>
              <a:t>DECISIONS FOR THE REVIEW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1  Confirm 2026 target and YTD actual.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2  Agree stage-exit evidence for four Q4 DWINs.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3  Assign DFAE support to top conversion plays.</a:t>
            </a:r>
          </a:p>
          <a:p>
            <a:pPr>
              <a:spcAft>
                <a:spcPts val="500"/>
              </a:spcAft>
              <a:defRPr sz="1500" b="1">
                <a:solidFill>
                  <a:srgbClr val="F7FAFC"/>
                </a:solidFill>
                <a:latin typeface="Aptos"/>
              </a:defRPr>
            </a:pPr>
            <a:r>
              <a:t>4  Select a distributor plan or confirm direct-only coverage.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01 /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target vs current achievement: source inputs are incomplete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109728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Do not use open opportunity value as booked achievement or target attainment.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2026 ANNUAL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Sales target is not in the source file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33672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YTD ACTUAL ACHIEVEMENT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5A5F"/>
                </a:solidFill>
                <a:latin typeface="Aptos"/>
              </a:defRPr>
            </a:pPr>
            <a:r>
              <a:t>[ INPUT REQUIRED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Bookings/revenue/DWIN actuals are not in the source file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1691640"/>
            <a:ext cx="3493008" cy="14813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874519"/>
            <a:ext cx="3127248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1">
                <a:solidFill>
                  <a:srgbClr val="A8B2C7"/>
                </a:solidFill>
                <a:latin typeface="Aptos"/>
              </a:defRPr>
            </a:pPr>
            <a:r>
              <a:t>GAP TO 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94560"/>
            <a:ext cx="3127248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700" b="1">
                <a:solidFill>
                  <a:srgbClr val="FF9F1C"/>
                </a:solidFill>
                <a:latin typeface="Aptos"/>
              </a:defRPr>
            </a:pPr>
            <a:r>
              <a:t>[ CALCULATE AFTER INPUT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47304" y="2688336"/>
            <a:ext cx="3127248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0">
                <a:solidFill>
                  <a:srgbClr val="DDE6F3"/>
                </a:solidFill>
                <a:latin typeface="Aptos"/>
              </a:defRPr>
            </a:pPr>
            <a:r>
              <a:t>Target − YTD actual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493008"/>
            <a:ext cx="11109960" cy="2240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39"/>
            <a:ext cx="10652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00B8A9"/>
                </a:solidFill>
                <a:latin typeface="Aptos"/>
              </a:defRPr>
            </a:pPr>
            <a:r>
              <a:t>AVAILABLE LEADING INDICATORS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Peak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11.82M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Weighted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2.51M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2026-created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8 / 6.70M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4187952"/>
            <a:ext cx="22402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A8B2C7"/>
                </a:solidFill>
                <a:latin typeface="Aptos"/>
              </a:defRPr>
            </a:pPr>
            <a:r>
              <a:t>2026 DWIN-dated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4480560"/>
            <a:ext cx="224028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900" b="1">
                <a:solidFill>
                  <a:srgbClr val="F7FAFC"/>
                </a:solidFill>
                <a:latin typeface="Aptos"/>
              </a:defRPr>
            </a:pPr>
            <a:r>
              <a:t>5 / 5.30M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230368"/>
            <a:ext cx="10241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F9F1C"/>
                </a:solidFill>
                <a:latin typeface="Aptos"/>
              </a:defRPr>
            </a:pPr>
            <a:r>
              <a:t>Bring to review: annual target, YTD revenue/bookings, achieved DWIN count/value, and definition of “achievement.”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02 /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Opportunity funnel: 58% of value remains at 0–25% probability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9903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Identify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13990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2588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1325880"/>
            <a:ext cx="3058236" cy="438912"/>
          </a:xfrm>
          <a:prstGeom prst="rect">
            <a:avLst/>
          </a:prstGeom>
          <a:solidFill>
            <a:srgbClr val="FF5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19872" y="135331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3.60M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08592" y="135331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5915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5915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8 opps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48840" y="2286000"/>
            <a:ext cx="5806440" cy="43891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9872" y="231343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6.84M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08592" y="231343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1.70M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1927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Develop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331927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48840" y="324612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48840" y="3246120"/>
            <a:ext cx="764559" cy="438912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3273551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900K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08592" y="3273551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450K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79392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427939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4206240"/>
            <a:ext cx="5806440" cy="438912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4206240"/>
            <a:ext cx="407764" cy="438912"/>
          </a:xfrm>
          <a:prstGeom prst="rect">
            <a:avLst/>
          </a:prstGeom>
          <a:solidFill>
            <a:srgbClr val="3DDC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233672"/>
            <a:ext cx="1051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300" b="1">
                <a:solidFill>
                  <a:srgbClr val="F7FAFC"/>
                </a:solidFill>
                <a:latin typeface="Aptos"/>
              </a:defRPr>
            </a:pPr>
            <a:r>
              <a:t>480K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2" y="4233672"/>
            <a:ext cx="1389888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weighted 360K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109960" cy="6858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31536"/>
            <a:ext cx="3063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Top 3 = 68% of peak value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5431536"/>
            <a:ext cx="34290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5A5F"/>
                </a:solidFill>
                <a:latin typeface="Aptos"/>
              </a:defRPr>
            </a:pPr>
            <a:r>
              <a:t>2 Identify opportunities = 0 weighted value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5431536"/>
            <a:ext cx="35204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00B8A9"/>
                </a:solidFill>
                <a:latin typeface="Aptos"/>
              </a:defRPr>
            </a:pPr>
            <a:r>
              <a:t>Priority: qualify → define → evidence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03 /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2026 DWIN-dated pipeline: convert five named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61872"/>
          <a:ext cx="111099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212848"/>
                <a:gridCol w="694944"/>
                <a:gridCol w="566928"/>
                <a:gridCol w="941832"/>
                <a:gridCol w="704088"/>
                <a:gridCol w="4937760"/>
              </a:tblGrid>
              <a:tr h="541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41020"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4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4773168"/>
            <a:ext cx="11109960" cy="1078992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4992624"/>
            <a:ext cx="24231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REVIEW COMMITMENT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4928616"/>
            <a:ext cx="836676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For each play: customer decision date • technical gap • required sample/tool/IP • named Sales + FAE + DFAE owners • evidence for the next stage.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opportunities 1–7: protect the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5623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Intelligent Sense _Response Solution_AI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21 Oct 2026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4.12M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Aerospace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Weather Monitoring Radar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Identify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24 Nov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3.00M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use case, sponsor, budget and 0→25% gate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CFPGA_PCIe Gen1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Develop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50%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19 Feb 2027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900K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validation plan and design-freeze evidence</a:t>
                      </a:r>
                    </a:p>
                  </a:txBody>
                  <a:tcPr marL="54864" marR="36576" marT="22860" marB="18288">
                    <a:solidFill>
                      <a:srgbClr val="14213D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Long Range Tracking System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17 Mar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825K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CEP002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16 Dec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775K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CPU Interface Card_PQC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Identify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29 Dec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600K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use case, sponsor, budget and 0→25% gate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562356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Anesthesia Controller_X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28 May 2027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500K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Ranks 1–3 contribute 67.9% of total peak value; weekly executive inspection is warranted.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04 / TOP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Top opportunities 8–14: build breadth and add #15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60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1143000"/>
                <a:gridCol w="2304288"/>
                <a:gridCol w="658368"/>
                <a:gridCol w="548640"/>
                <a:gridCol w="914400"/>
                <a:gridCol w="676656"/>
                <a:gridCol w="4544568"/>
              </a:tblGrid>
              <a:tr h="49987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Customer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Opportunity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Stage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Prob.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DWIN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Peak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Proposed next gate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8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Scanner_DCB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07 Jul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400K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XSC/CT Scanner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 Sep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270K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micro vapour cooling system - VCS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01 Jun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185K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SP-PDU CONTROL BOARD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110K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12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CMU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05 Dec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90K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13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 Tech.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- Process manager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Design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75%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30 Nov 2026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25K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DW evidence and production handoff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14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User interface hub for MRI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Define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25%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31 Jan 2027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10K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architecture/BOM and evaluation plan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499872"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15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OPEN SLOT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—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81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Add a qualified 2027 demand-creation play</a:t>
                      </a:r>
                    </a:p>
                  </a:txBody>
                  <a:tcPr marL="54864" marR="36576" marT="22860" marB="18288">
                    <a:solidFill>
                      <a:srgbClr val="2B1D2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The source contains 14 distinct Sahil opportunities—not 15. Use the open slot to create, qualify and name the next strategic play.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Customer portfolio: Outdu and Honeywell Aerospace dominate peak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0759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Outdu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280160"/>
            <a:ext cx="4800600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4.95M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127101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1.24M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98864" y="127101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3852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Aerospace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191109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48840" y="1911095"/>
            <a:ext cx="2909454" cy="310896"/>
          </a:xfrm>
          <a:prstGeom prst="rect">
            <a:avLst/>
          </a:prstGeom>
          <a:solidFill>
            <a:srgbClr val="00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3.00M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1901952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8864" y="1901952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569463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Juniper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2542032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48840" y="2542032"/>
            <a:ext cx="1454727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1.50M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532888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450K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4" y="2532888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200399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GE HealthCare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48840" y="3172968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48840" y="3172968"/>
            <a:ext cx="979560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1.01M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4" y="3163824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242K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3163824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3831336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Emerson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48840" y="3803904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48840" y="3803904"/>
            <a:ext cx="75160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14032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775K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3794760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194K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4" y="3794760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1 opps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462272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Honeywell Tech.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148840" y="4434840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148840" y="4434840"/>
            <a:ext cx="290945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14032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300K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0144" y="4425696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180K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8864" y="4425696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3 opps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5093207"/>
            <a:ext cx="15087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7FAFC"/>
                </a:solidFill>
                <a:latin typeface="Aptos"/>
              </a:defRPr>
            </a:pPr>
            <a:r>
              <a:t>Philips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148840" y="5065775"/>
            <a:ext cx="4800600" cy="310896"/>
          </a:xfrm>
          <a:prstGeom prst="rect">
            <a:avLst/>
          </a:prstGeom>
          <a:solidFill>
            <a:srgbClr val="152446"/>
          </a:solidFill>
          <a:ln w="12700">
            <a:solidFill>
              <a:srgbClr val="1524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148840" y="5065775"/>
            <a:ext cx="271549" cy="310896"/>
          </a:xfrm>
          <a:prstGeom prst="rect">
            <a:avLst/>
          </a:prstGeom>
          <a:solidFill>
            <a:srgbClr val="3A8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14032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50" b="1">
                <a:solidFill>
                  <a:srgbClr val="F7FAFC"/>
                </a:solidFill>
                <a:latin typeface="Aptos"/>
              </a:defRPr>
            </a:pPr>
            <a:r>
              <a:t>280K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5056631"/>
            <a:ext cx="10058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W 205K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98864" y="5056631"/>
            <a:ext cx="7772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50" b="0">
                <a:solidFill>
                  <a:srgbClr val="A8B2C7"/>
                </a:solidFill>
                <a:latin typeface="Aptos"/>
              </a:defRPr>
            </a:pPr>
            <a:r>
              <a:t>2 opps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02920" y="5870448"/>
            <a:ext cx="11109960" cy="38404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5943600"/>
            <a:ext cx="10652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1">
                <a:solidFill>
                  <a:srgbClr val="FF9F1C"/>
                </a:solidFill>
                <a:latin typeface="Aptos"/>
              </a:defRPr>
            </a:pPr>
            <a:r>
              <a:t>Coverage check: 14/14 are direct “Altera Opportunity”; distributor account is blank on every Sahil line item.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05 / ACCOUNTS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Q4 2026 / 2027 account plans: convert now, then expand adjacencies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34440"/>
          <a:ext cx="1110995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2084831"/>
                <a:gridCol w="3749039"/>
                <a:gridCol w="4197096"/>
              </a:tblGrid>
              <a:tr h="646611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Account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Current plays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Q4 2026 proposed focus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2027 proposed expansion</a:t>
                      </a:r>
                    </a:p>
                  </a:txBody>
                  <a:tcPr marL="54864" marR="36576" marT="27432" marB="18288">
                    <a:solidFill>
                      <a:srgbClr val="3A86FF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Outdu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AI response + tracking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Close 21 Oct architecture, BOM and evaluation gate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Replicate video/vision pipeline across tracking + analytics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Honeywell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Radar + industrial/aerospace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Qualify 3.00M radar; close two Design-stage evidence packs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Create radar/thermal-control solution campaign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Juniper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PCIe FPGA + PQC interface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Move CFPGA through validation; qualify PQC from 0%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Position Agilex 3 for security/control-plane refresh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GE HealthCare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CT, anesthesia, power control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Recover 2026 SP-PDU gate; define CT/anesthesia evaluations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Medical imaging + controller platform expansion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Emerson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RX3i controller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Freeze dual-device architecture before 16 Dec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Industrial automation controller modernization</a:t>
                      </a:r>
                    </a:p>
                  </a:txBody>
                  <a:tcPr marL="54864" marR="36576" marT="22860" marB="18288">
                    <a:solidFill>
                      <a:srgbClr val="111C3A"/>
                    </a:solidFill>
                  </a:tcPr>
                </a:tc>
              </a:tr>
              <a:tr h="646614"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Philips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CT + MRI UI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Secure CT design evidence; define MRI UI success criteria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defRPr sz="900">
                          <a:solidFill>
                            <a:srgbClr val="F7FAFC"/>
                          </a:solidFill>
                          <a:latin typeface="Aptos"/>
                        </a:defRPr>
                      </a:pPr>
                      <a:r>
                        <a:t>Imaging workflow and low-power control adjacency</a:t>
                      </a:r>
                    </a:p>
                  </a:txBody>
                  <a:tcPr marL="54864" marR="36576" marT="22860" marB="18288">
                    <a:solidFill>
                      <a:srgbClr val="15244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" y="5879592"/>
            <a:ext cx="10881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50" b="0">
                <a:solidFill>
                  <a:srgbClr val="A8B2C7"/>
                </a:solidFill>
                <a:latin typeface="Aptos"/>
              </a:defRPr>
            </a:pPr>
            <a:r>
              <a:t>These are proposed actions inferred from stage/date/product data; validate customer commitments and support history in the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06 / 2027 CREATION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FY2027 demand creation: three repeatable motions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ROBOTICS +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Industrial OEMs; Emerson + Honeywell adjacencies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Deterministic control, functional partitioning, secure connectivity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Controller architecture workshop + 3 qualified use cases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00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00B8A9"/>
                </a:solidFill>
                <a:latin typeface="Aptos"/>
              </a:defRPr>
            </a:pPr>
            <a:r>
              <a:t>VIDEO + 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7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53127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Outdu, medical imaging and smart sensing teams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7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7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Edge AI/video pipeline on Agilex 5 D / Agilex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7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3127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Vision benchmark day + reference design + 3 evaluations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298448"/>
            <a:ext cx="3493008" cy="43434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1572768"/>
            <a:ext cx="3090672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3A86FF"/>
                </a:solidFill>
                <a:latin typeface="Aptos"/>
              </a:defRPr>
            </a:pPr>
            <a:r>
              <a:t>INDUSTRIAL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1488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8" y="2395728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Automation, medical controls and network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3163824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OFFER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2168" y="3410712"/>
            <a:ext cx="3090672" cy="640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PCIe/Ethernet modernization and legacy FPGA migration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8" y="4206240"/>
            <a:ext cx="309067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4453128"/>
            <a:ext cx="3090672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00" b="1">
                <a:solidFill>
                  <a:srgbClr val="F7FAFC"/>
                </a:solidFill>
                <a:latin typeface="Aptos"/>
              </a:defRPr>
            </a:pPr>
            <a:r>
              <a:t>Portfolio migration clinic + joint Sales/FAE account map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852160"/>
            <a:ext cx="108813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50" b="1">
                <a:solidFill>
                  <a:srgbClr val="FF9F1C"/>
                </a:solidFill>
                <a:latin typeface="Aptos"/>
              </a:defRPr>
            </a:pPr>
            <a:r>
              <a:t>Review decision: choose numeric 2027 creation targets after the 2027 sales objective is confirmed.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07 / TEAM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DFAE + ecosystem engagement: attach expertise to stage exits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5A5F"/>
                </a:solidFill>
                <a:latin typeface="Aptos"/>
              </a:defRPr>
            </a:pPr>
            <a:r>
              <a:t>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Sponsor, use case, value, budget and decision process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9F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F9F1C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FAE + specialist DFAE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Block diagram, device fit, IP/tools and risk register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A8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A86FF"/>
                </a:solidFill>
                <a:latin typeface="Aptos"/>
              </a:defRPr>
            </a:pPr>
            <a:r>
              <a:t>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216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Customer + FAE + DFAE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Evaluation results, issue closure and design-freeze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353312"/>
            <a:ext cx="2578608" cy="2395728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3DDC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16568" y="1609344"/>
            <a:ext cx="2249424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3DDC97"/>
                </a:solidFill>
                <a:latin typeface="Aptos"/>
              </a:defRPr>
            </a:pPr>
            <a:r>
              <a:t>PRODUCTION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16568" y="1993392"/>
            <a:ext cx="2249424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250" b="1">
                <a:solidFill>
                  <a:srgbClr val="F7FAFC"/>
                </a:solidFill>
                <a:latin typeface="Aptos"/>
              </a:defRPr>
            </a:pPr>
            <a:r>
              <a:t>Sales + FAE + channel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87168"/>
            <a:ext cx="2249424" cy="8595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DDE6F3"/>
                </a:solidFill>
                <a:latin typeface="Aptos"/>
              </a:defRPr>
            </a:pPr>
            <a:r>
              <a:t>DW evidence, forecast, supply path and production handoff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41648"/>
            <a:ext cx="11109960" cy="150876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315968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WEEKLY OPERATING CADENCE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Top-5 stage/gap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WED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Customer/DFAE action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Evidence + CRM hygiene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4297680"/>
            <a:ext cx="1783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800" b="1">
                <a:solidFill>
                  <a:srgbClr val="A8B2C7"/>
                </a:solidFill>
                <a:latin typeface="Aptos"/>
              </a:defRPr>
            </a:pPr>
            <a:r>
              <a:t>MONTH-END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9720" y="4572000"/>
            <a:ext cx="1874519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00" b="1">
                <a:solidFill>
                  <a:srgbClr val="F7FAFC"/>
                </a:solidFill>
                <a:latin typeface="Aptos"/>
              </a:defRPr>
            </a:pPr>
            <a:r>
              <a:t>Pipeline creation + conversion scorecard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08 / COMMITMENTS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Close the review with owners, evidence and missing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61872"/>
            <a:ext cx="6675120" cy="4526280"/>
          </a:xfrm>
          <a:prstGeom prst="roundRect">
            <a:avLst/>
          </a:prstGeom>
          <a:solidFill>
            <a:srgbClr val="111C3A"/>
          </a:solidFill>
          <a:ln w="12700">
            <a:solidFill>
              <a:srgbClr val="2A36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54480"/>
            <a:ext cx="61722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00B8A9"/>
                </a:solidFill>
                <a:latin typeface="Aptos"/>
              </a:defRPr>
            </a:pPr>
            <a:r>
              <a:t>PROPOSED COMMITMENTS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993392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3392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Name next-stage evidence and due date for every top-5 opportunity.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688336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88336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Qualify Weather Radar and CPU Interface Card from 0% or remove value from the active forecast.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383280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383280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Create the 15th strategic opportunity with a 2027 customer sponsor and use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4078224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4078224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Publish a direct-account + distributor coverage map; current source has no disty pipeline.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773168"/>
            <a:ext cx="320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500" b="1">
                <a:solidFill>
                  <a:srgbClr val="FF9F1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773168"/>
            <a:ext cx="55778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7FAFC"/>
                </a:solidFill>
                <a:latin typeface="Aptos"/>
              </a:defRPr>
            </a:pPr>
            <a:r>
              <a:t>Run one demand-creation motion per focus area and track evaluations created.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261872"/>
            <a:ext cx="4206240" cy="452628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FF5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62672" y="1554480"/>
            <a:ext cx="37033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000" b="1">
                <a:solidFill>
                  <a:srgbClr val="FF5A5F"/>
                </a:solidFill>
                <a:latin typeface="Aptos"/>
              </a:defRPr>
            </a:pPr>
            <a:r>
              <a:t>INPUTS TO COMPLETE BEFORE PRESENTING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99339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28431" y="199339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2026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44144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28431" y="244144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YTD actual / achieved DWINs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889504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8431" y="2889504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Gap-closure value and dates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337560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337560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Support activity history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785616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1" y="3785616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Customer market-share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23367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28431" y="4233672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Distributor targets/accounts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681728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00" b="1">
                <a:solidFill>
                  <a:srgbClr val="FF9F1C"/>
                </a:solidFill>
                <a:latin typeface="Aptos"/>
              </a:defRPr>
            </a:pPr>
            <a:r>
              <a:t>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4681728"/>
            <a:ext cx="30632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1">
                <a:solidFill>
                  <a:srgbClr val="F7FAFC"/>
                </a:solidFill>
                <a:latin typeface="Aptos"/>
              </a:defRPr>
            </a:pPr>
            <a:r>
              <a:t>Named DFAE owners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5266944"/>
            <a:ext cx="3611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350" b="1">
                <a:solidFill>
                  <a:srgbClr val="00B8A9"/>
                </a:solidFill>
                <a:latin typeface="Aptos"/>
              </a:defRPr>
            </a:pPr>
            <a:r>
              <a:t>No invented numbers.</a:t>
            </a:r>
            <a:br/>
            <a:r>
              <a:t>Fill, validate, commit.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24688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08813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2500" b="1">
                <a:solidFill>
                  <a:srgbClr val="F7FAFC"/>
                </a:solidFill>
                <a:latin typeface="Aptos"/>
              </a:defRPr>
            </a:pPr>
            <a:r>
              <a:t>Appendix: scope, definitions and data-quality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27080" y="237744"/>
            <a:ext cx="6858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defRPr sz="1000" b="1">
                <a:solidFill>
                  <a:srgbClr val="A8B2C7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987552"/>
            <a:ext cx="11109960" cy="18288"/>
          </a:xfrm>
          <a:prstGeom prst="rect">
            <a:avLst/>
          </a:prstGeom>
          <a:solidFill>
            <a:srgbClr val="2A36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65392"/>
            <a:ext cx="1110996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750" b="0">
                <a:solidFill>
                  <a:srgbClr val="A8B2C7"/>
                </a:solidFill>
                <a:latin typeface="Aptos"/>
              </a:defRPr>
            </a:pPr>
            <a:r>
              <a:t>Prepared 27 Jul 2026  •  Source: Sahil Report.xlsx  •  Values are in source units (currency not 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24358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24358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Rows where Technical Owner = Sahil Patni; 20 product lines consolidated by Opportunity ID into 14 opportunities.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0195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PEAK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90195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Product-line Peak Value summed within each Opportunity ID. Source file does not encode currency.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WEIGHTED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560320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Consolidated peak value × source probability. Identify opportunities at 0% therefore contribute zero.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218688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00B8A9"/>
                </a:solidFill>
                <a:latin typeface="Aptos"/>
              </a:defRPr>
            </a:pPr>
            <a:r>
              <a:t>DWIN-DATED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18688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Opportunity Design Win Date falls in the stated year. This is a scheduled date, not proof of an achieved design win.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77056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DATES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877056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Source mixes Excel dates and text dates; both were normalized for analysis.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535424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535424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All Sahil records are “Altera Opportunity”; Distributor Account is blank. No channel pipeline can be inferred.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193792"/>
            <a:ext cx="15087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1">
                <a:solidFill>
                  <a:srgbClr val="FF9F1C"/>
                </a:solidFill>
                <a:latin typeface="Aptos"/>
              </a:defRPr>
            </a:pPr>
            <a:r>
              <a:t>NOT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193792"/>
            <a:ext cx="92811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1150" b="0">
                <a:solidFill>
                  <a:srgbClr val="F7FAFC"/>
                </a:solidFill>
                <a:latin typeface="Aptos"/>
              </a:defRPr>
            </a:pPr>
            <a:r>
              <a:t>Target, actual achievement, revenue/bookings, support history, market share, next actions, and named DFAE assignments.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98464"/>
            <a:ext cx="108813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defRPr sz="900" b="0">
                <a:solidFill>
                  <a:srgbClr val="A8B2C7"/>
                </a:solidFill>
                <a:latin typeface="Aptos"/>
              </a:defRPr>
            </a:pPr>
            <a:r>
              <a:t>Regenerate with: python3 qbr/generate_sahil_qbr.py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